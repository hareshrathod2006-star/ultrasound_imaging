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mo Bold" charset="1" panose="020B0704020202020204"/>
      <p:regular r:id="rId21"/>
    </p:embeddedFont>
    <p:embeddedFont>
      <p:font typeface="Arimo" charset="1" panose="020B0604020202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10.jpeg" Type="http://schemas.openxmlformats.org/officeDocument/2006/relationships/image"/><Relationship Id="rId7"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gamma.app/?utm_source=made-with-gamma" TargetMode="External" Type="http://schemas.openxmlformats.org/officeDocument/2006/relationships/hyperlink"/><Relationship Id="rId4" Target="../media/image2.png" Type="http://schemas.openxmlformats.org/officeDocument/2006/relationships/image"/><Relationship Id="rId5" Target="../media/image12.jpeg" Type="http://schemas.openxmlformats.org/officeDocument/2006/relationships/image"/><Relationship Id="rId6" Target="../media/image13.jpeg" Type="http://schemas.openxmlformats.org/officeDocument/2006/relationships/image"/><Relationship Id="rId7"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https://doi.org/10.3390/app8040599" TargetMode="External" Type="http://schemas.openxmlformats.org/officeDocument/2006/relationships/hyperlink"/><Relationship Id="rId3" Target="https://patents.google.com/patent/WO2019142085A1/en?oq=WO2019142085." TargetMode="External" Type="http://schemas.openxmlformats.org/officeDocument/2006/relationships/hyperlink"/><Relationship Id="rId4" Target="https://github.com/CorazzaAlexandre/PALA_Beamforming"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sp>
        <p:nvSpPr>
          <p:cNvPr name="TextBox 8" id="8"/>
          <p:cNvSpPr txBox="true"/>
          <p:nvPr/>
        </p:nvSpPr>
        <p:spPr>
          <a:xfrm rot="0">
            <a:off x="8474126" y="971550"/>
            <a:ext cx="9445523" cy="2652712"/>
          </a:xfrm>
          <a:prstGeom prst="rect">
            <a:avLst/>
          </a:prstGeom>
        </p:spPr>
        <p:txBody>
          <a:bodyPr anchor="t" rtlCol="false" tIns="0" lIns="0" bIns="0" rIns="0">
            <a:spAutoFit/>
          </a:bodyPr>
          <a:lstStyle/>
          <a:p>
            <a:pPr algn="l">
              <a:lnSpc>
                <a:spcPts val="6937"/>
              </a:lnSpc>
            </a:pPr>
            <a:r>
              <a:rPr lang="en-US" sz="5562" b="true">
                <a:solidFill>
                  <a:srgbClr val="231971"/>
                </a:solidFill>
                <a:latin typeface="Arimo Bold"/>
                <a:ea typeface="Arimo Bold"/>
                <a:cs typeface="Arimo Bold"/>
                <a:sym typeface="Arimo Bold"/>
              </a:rPr>
              <a:t>Advanced Signal Processing in Ultrasound Imaging</a:t>
            </a:r>
          </a:p>
        </p:txBody>
      </p:sp>
      <p:sp>
        <p:nvSpPr>
          <p:cNvPr name="TextBox 9" id="9"/>
          <p:cNvSpPr txBox="true"/>
          <p:nvPr/>
        </p:nvSpPr>
        <p:spPr>
          <a:xfrm rot="0">
            <a:off x="8474126" y="4644074"/>
            <a:ext cx="9445523" cy="1328737"/>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From Delay-and-Sum to Iterative Mapping, a mathematical software pipeline that transforms raw RF echoes into precise, diagnostic-quality medical images.</a:t>
            </a:r>
          </a:p>
        </p:txBody>
      </p:sp>
      <p:grpSp>
        <p:nvGrpSpPr>
          <p:cNvPr name="Group 10" id="10"/>
          <p:cNvGrpSpPr/>
          <p:nvPr/>
        </p:nvGrpSpPr>
        <p:grpSpPr>
          <a:xfrm rot="0">
            <a:off x="15563850" y="9379744"/>
            <a:ext cx="2724150" cy="907256"/>
            <a:chOff x="0" y="0"/>
            <a:chExt cx="3632200" cy="1209675"/>
          </a:xfrm>
        </p:grpSpPr>
        <p:sp>
          <p:nvSpPr>
            <p:cNvPr name="Freeform 11" id="11"/>
            <p:cNvSpPr/>
            <p:nvPr/>
          </p:nvSpPr>
          <p:spPr>
            <a:xfrm flipH="false" flipV="false" rot="0">
              <a:off x="0" y="0"/>
              <a:ext cx="3632200" cy="1209675"/>
            </a:xfrm>
            <a:custGeom>
              <a:avLst/>
              <a:gdLst/>
              <a:ahLst/>
              <a:cxnLst/>
              <a:rect r="r" b="b" t="t" l="l"/>
              <a:pathLst>
                <a:path h="1209675" w="3632200">
                  <a:moveTo>
                    <a:pt x="0" y="0"/>
                  </a:moveTo>
                  <a:lnTo>
                    <a:pt x="3632200" y="0"/>
                  </a:lnTo>
                  <a:lnTo>
                    <a:pt x="3632200" y="1209675"/>
                  </a:lnTo>
                  <a:lnTo>
                    <a:pt x="0" y="1209675"/>
                  </a:lnTo>
                  <a:close/>
                </a:path>
              </a:pathLst>
            </a:custGeom>
            <a:solidFill>
              <a:srgbClr val="EEEEF4"/>
            </a:solidFill>
          </p:spPr>
        </p:sp>
      </p:grpSp>
      <p:grpSp>
        <p:nvGrpSpPr>
          <p:cNvPr name="Group 12" id="12"/>
          <p:cNvGrpSpPr/>
          <p:nvPr/>
        </p:nvGrpSpPr>
        <p:grpSpPr>
          <a:xfrm rot="0">
            <a:off x="0" y="0"/>
            <a:ext cx="7989903" cy="10287000"/>
            <a:chOff x="0" y="0"/>
            <a:chExt cx="10653204" cy="13716000"/>
          </a:xfrm>
        </p:grpSpPr>
        <p:sp>
          <p:nvSpPr>
            <p:cNvPr name="Freeform 13" id="13"/>
            <p:cNvSpPr/>
            <p:nvPr/>
          </p:nvSpPr>
          <p:spPr>
            <a:xfrm flipH="false" flipV="false" rot="0">
              <a:off x="0" y="0"/>
              <a:ext cx="10653268" cy="13716000"/>
            </a:xfrm>
            <a:custGeom>
              <a:avLst/>
              <a:gdLst/>
              <a:ahLst/>
              <a:cxnLst/>
              <a:rect r="r" b="b" t="t" l="l"/>
              <a:pathLst>
                <a:path h="13716000" w="10653268">
                  <a:moveTo>
                    <a:pt x="0" y="0"/>
                  </a:moveTo>
                  <a:lnTo>
                    <a:pt x="10653268" y="0"/>
                  </a:lnTo>
                  <a:lnTo>
                    <a:pt x="10653268" y="13716000"/>
                  </a:lnTo>
                  <a:lnTo>
                    <a:pt x="0" y="13716000"/>
                  </a:lnTo>
                  <a:lnTo>
                    <a:pt x="0" y="0"/>
                  </a:lnTo>
                  <a:close/>
                </a:path>
              </a:pathLst>
            </a:custGeom>
            <a:blipFill>
              <a:blip r:embed="rId6"/>
              <a:stretch>
                <a:fillRect l="0" t="0" r="0" b="0"/>
              </a:stretch>
            </a:blipFill>
          </p:spPr>
        </p:sp>
      </p:grpSp>
      <p:sp>
        <p:nvSpPr>
          <p:cNvPr name="TextBox 14" id="14"/>
          <p:cNvSpPr txBox="true"/>
          <p:nvPr/>
        </p:nvSpPr>
        <p:spPr>
          <a:xfrm rot="0">
            <a:off x="13855720" y="7421642"/>
            <a:ext cx="3726815" cy="1509554"/>
          </a:xfrm>
          <a:prstGeom prst="rect">
            <a:avLst/>
          </a:prstGeom>
        </p:spPr>
        <p:txBody>
          <a:bodyPr anchor="t" rtlCol="false" tIns="0" lIns="0" bIns="0" rIns="0">
            <a:spAutoFit/>
          </a:bodyPr>
          <a:lstStyle/>
          <a:p>
            <a:pPr algn="ctr">
              <a:lnSpc>
                <a:spcPts val="3437"/>
              </a:lnSpc>
            </a:pPr>
            <a:r>
              <a:rPr lang="en-US" b="true" sz="2750" u="sng">
                <a:solidFill>
                  <a:srgbClr val="000000"/>
                </a:solidFill>
                <a:latin typeface="Arimo Bold"/>
                <a:ea typeface="Arimo Bold"/>
                <a:cs typeface="Arimo Bold"/>
                <a:sym typeface="Arimo Bold"/>
              </a:rPr>
              <a:t>Presented to:</a:t>
            </a:r>
          </a:p>
          <a:p>
            <a:pPr algn="ctr">
              <a:lnSpc>
                <a:spcPts val="3437"/>
              </a:lnSpc>
            </a:pPr>
          </a:p>
          <a:p>
            <a:pPr algn="ctr">
              <a:lnSpc>
                <a:spcPts val="3437"/>
              </a:lnSpc>
            </a:pPr>
            <a:r>
              <a:rPr lang="en-US" b="true" sz="2750" u="sng">
                <a:solidFill>
                  <a:srgbClr val="000000"/>
                </a:solidFill>
                <a:latin typeface="Arimo Bold"/>
                <a:ea typeface="Arimo Bold"/>
                <a:cs typeface="Arimo Bold"/>
                <a:sym typeface="Arimo Bold"/>
              </a:rPr>
              <a:t>Dr. Himanshu Shekhar</a:t>
            </a:r>
          </a:p>
          <a:p>
            <a:pPr algn="l">
              <a:lnSpc>
                <a:spcPts val="1679"/>
              </a:lnSpc>
              <a:spcBef>
                <a:spcPct val="0"/>
              </a:spcBef>
            </a:pPr>
          </a:p>
        </p:txBody>
      </p:sp>
      <p:sp>
        <p:nvSpPr>
          <p:cNvPr name="TextBox 15" id="15"/>
          <p:cNvSpPr txBox="true"/>
          <p:nvPr/>
        </p:nvSpPr>
        <p:spPr>
          <a:xfrm rot="0">
            <a:off x="8566684" y="7094538"/>
            <a:ext cx="4091146" cy="2163762"/>
          </a:xfrm>
          <a:prstGeom prst="rect">
            <a:avLst/>
          </a:prstGeom>
        </p:spPr>
        <p:txBody>
          <a:bodyPr anchor="t" rtlCol="false" tIns="0" lIns="0" bIns="0" rIns="0">
            <a:spAutoFit/>
          </a:bodyPr>
          <a:lstStyle/>
          <a:p>
            <a:pPr algn="ctr">
              <a:lnSpc>
                <a:spcPts val="3437"/>
              </a:lnSpc>
            </a:pPr>
            <a:r>
              <a:rPr lang="en-US" b="true" sz="2750" u="sng">
                <a:solidFill>
                  <a:srgbClr val="000000"/>
                </a:solidFill>
                <a:latin typeface="Arimo Bold"/>
                <a:ea typeface="Arimo Bold"/>
                <a:cs typeface="Arimo Bold"/>
                <a:sym typeface="Arimo Bold"/>
              </a:rPr>
              <a:t>Presented by:</a:t>
            </a:r>
          </a:p>
          <a:p>
            <a:pPr algn="ctr">
              <a:lnSpc>
                <a:spcPts val="3437"/>
              </a:lnSpc>
            </a:pPr>
          </a:p>
          <a:p>
            <a:pPr algn="ctr">
              <a:lnSpc>
                <a:spcPts val="3437"/>
              </a:lnSpc>
            </a:pPr>
            <a:r>
              <a:rPr lang="en-US" sz="2750">
                <a:solidFill>
                  <a:srgbClr val="000000"/>
                </a:solidFill>
                <a:latin typeface="Arimo"/>
                <a:ea typeface="Arimo"/>
                <a:cs typeface="Arimo"/>
                <a:sym typeface="Arimo"/>
              </a:rPr>
              <a:t>Ajinder - 24110020 </a:t>
            </a:r>
          </a:p>
          <a:p>
            <a:pPr algn="ctr">
              <a:lnSpc>
                <a:spcPts val="3437"/>
              </a:lnSpc>
            </a:pPr>
            <a:r>
              <a:rPr lang="en-US" sz="2750">
                <a:solidFill>
                  <a:srgbClr val="000000"/>
                </a:solidFill>
                <a:latin typeface="Arimo"/>
                <a:ea typeface="Arimo"/>
                <a:cs typeface="Arimo"/>
                <a:sym typeface="Arimo"/>
              </a:rPr>
              <a:t>Haresh - 24110128 </a:t>
            </a:r>
          </a:p>
          <a:p>
            <a:pPr algn="ctr">
              <a:lnSpc>
                <a:spcPts val="3437"/>
              </a:lnSpc>
              <a:spcBef>
                <a:spcPct val="0"/>
              </a:spcBef>
            </a:pPr>
            <a:r>
              <a:rPr lang="en-US" sz="2750">
                <a:solidFill>
                  <a:srgbClr val="000000"/>
                </a:solidFill>
                <a:latin typeface="Arimo"/>
                <a:ea typeface="Arimo"/>
                <a:cs typeface="Arimo"/>
                <a:sym typeface="Arimo"/>
              </a:rPr>
              <a:t>Lakshmikanth - 24110181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grpSp>
        <p:nvGrpSpPr>
          <p:cNvPr name="Group 10" id="10"/>
          <p:cNvGrpSpPr/>
          <p:nvPr/>
        </p:nvGrpSpPr>
        <p:grpSpPr>
          <a:xfrm rot="0">
            <a:off x="12644438" y="755104"/>
            <a:ext cx="4429125" cy="8584063"/>
            <a:chOff x="0" y="0"/>
            <a:chExt cx="5905500" cy="11445418"/>
          </a:xfrm>
        </p:grpSpPr>
        <p:sp>
          <p:nvSpPr>
            <p:cNvPr name="Freeform 11" id="11" descr="preencoded.png"/>
            <p:cNvSpPr/>
            <p:nvPr/>
          </p:nvSpPr>
          <p:spPr>
            <a:xfrm flipH="false" flipV="false" rot="0">
              <a:off x="0" y="0"/>
              <a:ext cx="5905500" cy="11445367"/>
            </a:xfrm>
            <a:custGeom>
              <a:avLst/>
              <a:gdLst/>
              <a:ahLst/>
              <a:cxnLst/>
              <a:rect r="r" b="b" t="t" l="l"/>
              <a:pathLst>
                <a:path h="11445367" w="5905500">
                  <a:moveTo>
                    <a:pt x="0" y="0"/>
                  </a:moveTo>
                  <a:lnTo>
                    <a:pt x="5905500" y="0"/>
                  </a:lnTo>
                  <a:lnTo>
                    <a:pt x="5905500" y="11445367"/>
                  </a:lnTo>
                  <a:lnTo>
                    <a:pt x="0" y="11445367"/>
                  </a:lnTo>
                  <a:lnTo>
                    <a:pt x="0" y="0"/>
                  </a:lnTo>
                  <a:close/>
                </a:path>
              </a:pathLst>
            </a:custGeom>
            <a:blipFill>
              <a:blip r:embed="rId7"/>
              <a:stretch>
                <a:fillRect l="0" t="0" r="0" b="0"/>
              </a:stretch>
            </a:blipFill>
          </p:spPr>
        </p:sp>
      </p:grpSp>
      <p:sp>
        <p:nvSpPr>
          <p:cNvPr name="TextBox 12" id="12"/>
          <p:cNvSpPr txBox="true"/>
          <p:nvPr/>
        </p:nvSpPr>
        <p:spPr>
          <a:xfrm rot="0">
            <a:off x="992238" y="1059209"/>
            <a:ext cx="9445523" cy="1829095"/>
          </a:xfrm>
          <a:prstGeom prst="rect">
            <a:avLst/>
          </a:prstGeom>
        </p:spPr>
        <p:txBody>
          <a:bodyPr anchor="t" rtlCol="false" tIns="0" lIns="0" bIns="0" rIns="0">
            <a:spAutoFit/>
          </a:bodyPr>
          <a:lstStyle/>
          <a:p>
            <a:pPr algn="l">
              <a:lnSpc>
                <a:spcPts val="6937"/>
              </a:lnSpc>
            </a:pPr>
            <a:r>
              <a:rPr lang="en-US" sz="5562" b="true">
                <a:solidFill>
                  <a:srgbClr val="231971"/>
                </a:solidFill>
                <a:latin typeface="Arimo Bold"/>
                <a:ea typeface="Arimo Bold"/>
                <a:cs typeface="Arimo Bold"/>
                <a:sym typeface="Arimo Bold"/>
              </a:rPr>
              <a:t>From Echoes to Images: The Core Challenge</a:t>
            </a:r>
          </a:p>
        </p:txBody>
      </p:sp>
      <p:grpSp>
        <p:nvGrpSpPr>
          <p:cNvPr name="Group 13" id="13"/>
          <p:cNvGrpSpPr/>
          <p:nvPr/>
        </p:nvGrpSpPr>
        <p:grpSpPr>
          <a:xfrm rot="0">
            <a:off x="987476" y="3308747"/>
            <a:ext cx="4590459" cy="3476777"/>
            <a:chOff x="0" y="0"/>
            <a:chExt cx="6120613" cy="4635703"/>
          </a:xfrm>
        </p:grpSpPr>
        <p:sp>
          <p:nvSpPr>
            <p:cNvPr name="Freeform 14" id="14"/>
            <p:cNvSpPr/>
            <p:nvPr/>
          </p:nvSpPr>
          <p:spPr>
            <a:xfrm flipH="false" flipV="false" rot="0">
              <a:off x="6350" y="6350"/>
              <a:ext cx="6107938" cy="4622927"/>
            </a:xfrm>
            <a:custGeom>
              <a:avLst/>
              <a:gdLst/>
              <a:ahLst/>
              <a:cxnLst/>
              <a:rect r="r" b="b" t="t" l="l"/>
              <a:pathLst>
                <a:path h="4622927" w="6107938">
                  <a:moveTo>
                    <a:pt x="0" y="158750"/>
                  </a:moveTo>
                  <a:cubicBezTo>
                    <a:pt x="0" y="71120"/>
                    <a:pt x="71120" y="0"/>
                    <a:pt x="158877" y="0"/>
                  </a:cubicBezTo>
                  <a:lnTo>
                    <a:pt x="5949061" y="0"/>
                  </a:lnTo>
                  <a:cubicBezTo>
                    <a:pt x="6036818" y="0"/>
                    <a:pt x="6107938" y="71120"/>
                    <a:pt x="6107938" y="158750"/>
                  </a:cubicBezTo>
                  <a:lnTo>
                    <a:pt x="6107938" y="4464177"/>
                  </a:lnTo>
                  <a:cubicBezTo>
                    <a:pt x="6107938" y="4551934"/>
                    <a:pt x="6036818" y="4622927"/>
                    <a:pt x="5949061" y="4622927"/>
                  </a:cubicBezTo>
                  <a:lnTo>
                    <a:pt x="158877" y="4622927"/>
                  </a:lnTo>
                  <a:cubicBezTo>
                    <a:pt x="71120" y="4623054"/>
                    <a:pt x="0" y="4551934"/>
                    <a:pt x="0" y="4464177"/>
                  </a:cubicBezTo>
                  <a:close/>
                </a:path>
              </a:pathLst>
            </a:custGeom>
            <a:solidFill>
              <a:srgbClr val="E9E6FA"/>
            </a:solidFill>
          </p:spPr>
        </p:sp>
        <p:sp>
          <p:nvSpPr>
            <p:cNvPr name="Freeform 15" id="15"/>
            <p:cNvSpPr/>
            <p:nvPr/>
          </p:nvSpPr>
          <p:spPr>
            <a:xfrm flipH="false" flipV="false" rot="0">
              <a:off x="0" y="0"/>
              <a:ext cx="6120638" cy="4635627"/>
            </a:xfrm>
            <a:custGeom>
              <a:avLst/>
              <a:gdLst/>
              <a:ahLst/>
              <a:cxnLst/>
              <a:rect r="r" b="b" t="t" l="l"/>
              <a:pathLst>
                <a:path h="4635627" w="6120638">
                  <a:moveTo>
                    <a:pt x="0" y="165100"/>
                  </a:moveTo>
                  <a:cubicBezTo>
                    <a:pt x="0" y="73914"/>
                    <a:pt x="74041" y="0"/>
                    <a:pt x="165227" y="0"/>
                  </a:cubicBezTo>
                  <a:lnTo>
                    <a:pt x="5955411" y="0"/>
                  </a:lnTo>
                  <a:lnTo>
                    <a:pt x="5955411" y="6350"/>
                  </a:lnTo>
                  <a:lnTo>
                    <a:pt x="5955411" y="0"/>
                  </a:lnTo>
                  <a:cubicBezTo>
                    <a:pt x="6046724" y="0"/>
                    <a:pt x="6120638" y="73914"/>
                    <a:pt x="6120638" y="165100"/>
                  </a:cubicBezTo>
                  <a:lnTo>
                    <a:pt x="6114288" y="165100"/>
                  </a:lnTo>
                  <a:lnTo>
                    <a:pt x="6120638" y="165100"/>
                  </a:lnTo>
                  <a:lnTo>
                    <a:pt x="6120638" y="4470527"/>
                  </a:lnTo>
                  <a:lnTo>
                    <a:pt x="6114288" y="4470527"/>
                  </a:lnTo>
                  <a:lnTo>
                    <a:pt x="6120638" y="4470527"/>
                  </a:lnTo>
                  <a:cubicBezTo>
                    <a:pt x="6120638" y="4561713"/>
                    <a:pt x="6046597" y="4635627"/>
                    <a:pt x="5955411" y="4635627"/>
                  </a:cubicBezTo>
                  <a:lnTo>
                    <a:pt x="5955411" y="4629277"/>
                  </a:lnTo>
                  <a:lnTo>
                    <a:pt x="5955411" y="4635627"/>
                  </a:lnTo>
                  <a:lnTo>
                    <a:pt x="165227" y="4635627"/>
                  </a:lnTo>
                  <a:lnTo>
                    <a:pt x="165227" y="4629277"/>
                  </a:lnTo>
                  <a:lnTo>
                    <a:pt x="165227" y="4635627"/>
                  </a:lnTo>
                  <a:cubicBezTo>
                    <a:pt x="73914" y="4635627"/>
                    <a:pt x="0" y="4561713"/>
                    <a:pt x="0" y="4470527"/>
                  </a:cubicBezTo>
                  <a:lnTo>
                    <a:pt x="0" y="165100"/>
                  </a:lnTo>
                  <a:lnTo>
                    <a:pt x="6350" y="165100"/>
                  </a:lnTo>
                  <a:lnTo>
                    <a:pt x="0" y="165100"/>
                  </a:lnTo>
                  <a:moveTo>
                    <a:pt x="12700" y="165100"/>
                  </a:moveTo>
                  <a:lnTo>
                    <a:pt x="12700" y="4470527"/>
                  </a:lnTo>
                  <a:lnTo>
                    <a:pt x="6350" y="4470527"/>
                  </a:lnTo>
                  <a:lnTo>
                    <a:pt x="12700" y="4470527"/>
                  </a:lnTo>
                  <a:cubicBezTo>
                    <a:pt x="12700" y="4554728"/>
                    <a:pt x="81026" y="4622927"/>
                    <a:pt x="165227" y="4622927"/>
                  </a:cubicBezTo>
                  <a:lnTo>
                    <a:pt x="5955411" y="4622927"/>
                  </a:lnTo>
                  <a:cubicBezTo>
                    <a:pt x="6039612" y="4622927"/>
                    <a:pt x="6107938" y="4554728"/>
                    <a:pt x="6107938" y="4470527"/>
                  </a:cubicBezTo>
                  <a:lnTo>
                    <a:pt x="6107938" y="165100"/>
                  </a:lnTo>
                  <a:cubicBezTo>
                    <a:pt x="6107938" y="80899"/>
                    <a:pt x="6039612" y="12700"/>
                    <a:pt x="5955411" y="12700"/>
                  </a:cubicBezTo>
                  <a:lnTo>
                    <a:pt x="165227" y="12700"/>
                  </a:lnTo>
                  <a:lnTo>
                    <a:pt x="165227" y="6350"/>
                  </a:lnTo>
                  <a:lnTo>
                    <a:pt x="165227" y="12700"/>
                  </a:lnTo>
                  <a:cubicBezTo>
                    <a:pt x="81026" y="12700"/>
                    <a:pt x="12700" y="80899"/>
                    <a:pt x="12700" y="165100"/>
                  </a:cubicBezTo>
                  <a:close/>
                </a:path>
              </a:pathLst>
            </a:custGeom>
            <a:solidFill>
              <a:srgbClr val="BDB8DF"/>
            </a:solidFill>
          </p:spPr>
        </p:sp>
      </p:grpSp>
      <p:sp>
        <p:nvSpPr>
          <p:cNvPr name="TextBox 16" id="16"/>
          <p:cNvSpPr txBox="true"/>
          <p:nvPr/>
        </p:nvSpPr>
        <p:spPr>
          <a:xfrm rot="0">
            <a:off x="1285284" y="3568456"/>
            <a:ext cx="3544043" cy="481012"/>
          </a:xfrm>
          <a:prstGeom prst="rect">
            <a:avLst/>
          </a:prstGeom>
        </p:spPr>
        <p:txBody>
          <a:bodyPr anchor="t" rtlCol="false" tIns="0" lIns="0" bIns="0" rIns="0">
            <a:spAutoFit/>
          </a:bodyPr>
          <a:lstStyle/>
          <a:p>
            <a:pPr algn="l">
              <a:lnSpc>
                <a:spcPts val="3437"/>
              </a:lnSpc>
            </a:pPr>
            <a:r>
              <a:rPr lang="en-US" sz="2750" b="true">
                <a:solidFill>
                  <a:srgbClr val="2A2742"/>
                </a:solidFill>
                <a:latin typeface="Arimo Bold"/>
                <a:ea typeface="Arimo Bold"/>
                <a:cs typeface="Arimo Bold"/>
                <a:sym typeface="Arimo Bold"/>
              </a:rPr>
              <a:t>The Medium</a:t>
            </a:r>
          </a:p>
        </p:txBody>
      </p:sp>
      <p:sp>
        <p:nvSpPr>
          <p:cNvPr name="TextBox 17" id="17"/>
          <p:cNvSpPr txBox="true"/>
          <p:nvPr/>
        </p:nvSpPr>
        <p:spPr>
          <a:xfrm rot="0">
            <a:off x="1285284" y="4114800"/>
            <a:ext cx="3994842" cy="1919287"/>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Ultrasound emits sound waves into the body and captures returning echoes from tissue interfaces and scatterers.</a:t>
            </a:r>
          </a:p>
        </p:txBody>
      </p:sp>
      <p:grpSp>
        <p:nvGrpSpPr>
          <p:cNvPr name="Group 18" id="18"/>
          <p:cNvGrpSpPr/>
          <p:nvPr/>
        </p:nvGrpSpPr>
        <p:grpSpPr>
          <a:xfrm rot="0">
            <a:off x="5851922" y="3308747"/>
            <a:ext cx="4590602" cy="3476777"/>
            <a:chOff x="0" y="0"/>
            <a:chExt cx="6120803" cy="4635703"/>
          </a:xfrm>
        </p:grpSpPr>
        <p:sp>
          <p:nvSpPr>
            <p:cNvPr name="Freeform 19" id="19"/>
            <p:cNvSpPr/>
            <p:nvPr/>
          </p:nvSpPr>
          <p:spPr>
            <a:xfrm flipH="false" flipV="false" rot="0">
              <a:off x="6350" y="6350"/>
              <a:ext cx="6108065" cy="4622927"/>
            </a:xfrm>
            <a:custGeom>
              <a:avLst/>
              <a:gdLst/>
              <a:ahLst/>
              <a:cxnLst/>
              <a:rect r="r" b="b" t="t" l="l"/>
              <a:pathLst>
                <a:path h="4622927" w="6108065">
                  <a:moveTo>
                    <a:pt x="0" y="158750"/>
                  </a:moveTo>
                  <a:cubicBezTo>
                    <a:pt x="0" y="71120"/>
                    <a:pt x="71120" y="0"/>
                    <a:pt x="158877" y="0"/>
                  </a:cubicBezTo>
                  <a:lnTo>
                    <a:pt x="5949188" y="0"/>
                  </a:lnTo>
                  <a:cubicBezTo>
                    <a:pt x="6036945" y="0"/>
                    <a:pt x="6108065" y="71120"/>
                    <a:pt x="6108065" y="158750"/>
                  </a:cubicBezTo>
                  <a:lnTo>
                    <a:pt x="6108065" y="4464177"/>
                  </a:lnTo>
                  <a:cubicBezTo>
                    <a:pt x="6108065" y="4551934"/>
                    <a:pt x="6036945" y="4622927"/>
                    <a:pt x="5949188" y="4622927"/>
                  </a:cubicBezTo>
                  <a:lnTo>
                    <a:pt x="158877" y="4622927"/>
                  </a:lnTo>
                  <a:cubicBezTo>
                    <a:pt x="71120" y="4623054"/>
                    <a:pt x="0" y="4551934"/>
                    <a:pt x="0" y="4464177"/>
                  </a:cubicBezTo>
                  <a:close/>
                </a:path>
              </a:pathLst>
            </a:custGeom>
            <a:solidFill>
              <a:srgbClr val="E9E6FA"/>
            </a:solidFill>
          </p:spPr>
        </p:sp>
        <p:sp>
          <p:nvSpPr>
            <p:cNvPr name="Freeform 20" id="20"/>
            <p:cNvSpPr/>
            <p:nvPr/>
          </p:nvSpPr>
          <p:spPr>
            <a:xfrm flipH="false" flipV="false" rot="0">
              <a:off x="0" y="0"/>
              <a:ext cx="6120765" cy="4635627"/>
            </a:xfrm>
            <a:custGeom>
              <a:avLst/>
              <a:gdLst/>
              <a:ahLst/>
              <a:cxnLst/>
              <a:rect r="r" b="b" t="t" l="l"/>
              <a:pathLst>
                <a:path h="4635627" w="6120765">
                  <a:moveTo>
                    <a:pt x="0" y="165100"/>
                  </a:moveTo>
                  <a:cubicBezTo>
                    <a:pt x="0" y="73914"/>
                    <a:pt x="74041" y="0"/>
                    <a:pt x="165227" y="0"/>
                  </a:cubicBezTo>
                  <a:lnTo>
                    <a:pt x="5955538" y="0"/>
                  </a:lnTo>
                  <a:lnTo>
                    <a:pt x="5955538" y="6350"/>
                  </a:lnTo>
                  <a:lnTo>
                    <a:pt x="5955538" y="0"/>
                  </a:lnTo>
                  <a:cubicBezTo>
                    <a:pt x="6046851" y="0"/>
                    <a:pt x="6120765" y="73914"/>
                    <a:pt x="6120765" y="165100"/>
                  </a:cubicBezTo>
                  <a:lnTo>
                    <a:pt x="6114415" y="165100"/>
                  </a:lnTo>
                  <a:lnTo>
                    <a:pt x="6120765" y="165100"/>
                  </a:lnTo>
                  <a:lnTo>
                    <a:pt x="6120765" y="4470527"/>
                  </a:lnTo>
                  <a:lnTo>
                    <a:pt x="6114415" y="4470527"/>
                  </a:lnTo>
                  <a:lnTo>
                    <a:pt x="6120765" y="4470527"/>
                  </a:lnTo>
                  <a:cubicBezTo>
                    <a:pt x="6120765" y="4561713"/>
                    <a:pt x="6046724" y="4635627"/>
                    <a:pt x="5955538" y="4635627"/>
                  </a:cubicBezTo>
                  <a:lnTo>
                    <a:pt x="5955538" y="4629277"/>
                  </a:lnTo>
                  <a:lnTo>
                    <a:pt x="5955538" y="4635627"/>
                  </a:lnTo>
                  <a:lnTo>
                    <a:pt x="165227" y="4635627"/>
                  </a:lnTo>
                  <a:lnTo>
                    <a:pt x="165227" y="4629277"/>
                  </a:lnTo>
                  <a:lnTo>
                    <a:pt x="165227" y="4635627"/>
                  </a:lnTo>
                  <a:cubicBezTo>
                    <a:pt x="73914" y="4635627"/>
                    <a:pt x="0" y="4561713"/>
                    <a:pt x="0" y="4470527"/>
                  </a:cubicBezTo>
                  <a:lnTo>
                    <a:pt x="0" y="165100"/>
                  </a:lnTo>
                  <a:lnTo>
                    <a:pt x="6350" y="165100"/>
                  </a:lnTo>
                  <a:lnTo>
                    <a:pt x="0" y="165100"/>
                  </a:lnTo>
                  <a:moveTo>
                    <a:pt x="12700" y="165100"/>
                  </a:moveTo>
                  <a:lnTo>
                    <a:pt x="12700" y="4470527"/>
                  </a:lnTo>
                  <a:lnTo>
                    <a:pt x="6350" y="4470527"/>
                  </a:lnTo>
                  <a:lnTo>
                    <a:pt x="12700" y="4470527"/>
                  </a:lnTo>
                  <a:cubicBezTo>
                    <a:pt x="12700" y="4554728"/>
                    <a:pt x="81026" y="4622927"/>
                    <a:pt x="165227" y="4622927"/>
                  </a:cubicBezTo>
                  <a:lnTo>
                    <a:pt x="5955538" y="4622927"/>
                  </a:lnTo>
                  <a:cubicBezTo>
                    <a:pt x="6039739" y="4622927"/>
                    <a:pt x="6108065" y="4554728"/>
                    <a:pt x="6108065" y="4470527"/>
                  </a:cubicBezTo>
                  <a:lnTo>
                    <a:pt x="6108065" y="165100"/>
                  </a:lnTo>
                  <a:cubicBezTo>
                    <a:pt x="6108065" y="80899"/>
                    <a:pt x="6039739" y="12700"/>
                    <a:pt x="5955538" y="12700"/>
                  </a:cubicBezTo>
                  <a:lnTo>
                    <a:pt x="165227" y="12700"/>
                  </a:lnTo>
                  <a:lnTo>
                    <a:pt x="165227" y="6350"/>
                  </a:lnTo>
                  <a:lnTo>
                    <a:pt x="165227" y="12700"/>
                  </a:lnTo>
                  <a:cubicBezTo>
                    <a:pt x="81026" y="12700"/>
                    <a:pt x="12700" y="80899"/>
                    <a:pt x="12700" y="165100"/>
                  </a:cubicBezTo>
                  <a:close/>
                </a:path>
              </a:pathLst>
            </a:custGeom>
            <a:solidFill>
              <a:srgbClr val="BDB8DF"/>
            </a:solidFill>
          </p:spPr>
        </p:sp>
      </p:grpSp>
      <p:sp>
        <p:nvSpPr>
          <p:cNvPr name="TextBox 21" id="21"/>
          <p:cNvSpPr txBox="true"/>
          <p:nvPr/>
        </p:nvSpPr>
        <p:spPr>
          <a:xfrm rot="0">
            <a:off x="6149731" y="3568456"/>
            <a:ext cx="3544043" cy="481012"/>
          </a:xfrm>
          <a:prstGeom prst="rect">
            <a:avLst/>
          </a:prstGeom>
        </p:spPr>
        <p:txBody>
          <a:bodyPr anchor="t" rtlCol="false" tIns="0" lIns="0" bIns="0" rIns="0">
            <a:spAutoFit/>
          </a:bodyPr>
          <a:lstStyle/>
          <a:p>
            <a:pPr algn="l">
              <a:lnSpc>
                <a:spcPts val="3437"/>
              </a:lnSpc>
            </a:pPr>
            <a:r>
              <a:rPr lang="en-US" sz="2750" b="true">
                <a:solidFill>
                  <a:srgbClr val="2A2742"/>
                </a:solidFill>
                <a:latin typeface="Arimo Bold"/>
                <a:ea typeface="Arimo Bold"/>
                <a:cs typeface="Arimo Bold"/>
                <a:sym typeface="Arimo Bold"/>
              </a:rPr>
              <a:t>The Raw Data</a:t>
            </a:r>
          </a:p>
        </p:txBody>
      </p:sp>
      <p:sp>
        <p:nvSpPr>
          <p:cNvPr name="TextBox 22" id="22"/>
          <p:cNvSpPr txBox="true"/>
          <p:nvPr/>
        </p:nvSpPr>
        <p:spPr>
          <a:xfrm rot="0">
            <a:off x="6149731" y="4114800"/>
            <a:ext cx="3994995" cy="2224087"/>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A 128-element probe receives raw, noisy Radio-Frequency (RF) electrical signals with highfrequency oscillations with no visible structure.</a:t>
            </a:r>
          </a:p>
        </p:txBody>
      </p:sp>
      <p:grpSp>
        <p:nvGrpSpPr>
          <p:cNvPr name="Group 23" id="23"/>
          <p:cNvGrpSpPr/>
          <p:nvPr/>
        </p:nvGrpSpPr>
        <p:grpSpPr>
          <a:xfrm rot="0">
            <a:off x="987476" y="7059511"/>
            <a:ext cx="9455048" cy="2115893"/>
            <a:chOff x="0" y="0"/>
            <a:chExt cx="12606731" cy="2821191"/>
          </a:xfrm>
        </p:grpSpPr>
        <p:sp>
          <p:nvSpPr>
            <p:cNvPr name="Freeform 24" id="24"/>
            <p:cNvSpPr/>
            <p:nvPr/>
          </p:nvSpPr>
          <p:spPr>
            <a:xfrm flipH="false" flipV="false" rot="0">
              <a:off x="6350" y="6350"/>
              <a:ext cx="12594082" cy="2808478"/>
            </a:xfrm>
            <a:custGeom>
              <a:avLst/>
              <a:gdLst/>
              <a:ahLst/>
              <a:cxnLst/>
              <a:rect r="r" b="b" t="t" l="l"/>
              <a:pathLst>
                <a:path h="2808478" w="12594082">
                  <a:moveTo>
                    <a:pt x="0" y="158750"/>
                  </a:moveTo>
                  <a:cubicBezTo>
                    <a:pt x="0" y="71120"/>
                    <a:pt x="71374" y="0"/>
                    <a:pt x="159385" y="0"/>
                  </a:cubicBezTo>
                  <a:lnTo>
                    <a:pt x="12434697" y="0"/>
                  </a:lnTo>
                  <a:cubicBezTo>
                    <a:pt x="12522708" y="0"/>
                    <a:pt x="12594082" y="71120"/>
                    <a:pt x="12594082" y="158750"/>
                  </a:cubicBezTo>
                  <a:lnTo>
                    <a:pt x="12594082" y="2649728"/>
                  </a:lnTo>
                  <a:cubicBezTo>
                    <a:pt x="12594082" y="2737485"/>
                    <a:pt x="12522708" y="2808478"/>
                    <a:pt x="12434697" y="2808478"/>
                  </a:cubicBezTo>
                  <a:lnTo>
                    <a:pt x="159385" y="2808478"/>
                  </a:lnTo>
                  <a:cubicBezTo>
                    <a:pt x="71374" y="2808478"/>
                    <a:pt x="0" y="2737358"/>
                    <a:pt x="0" y="2649728"/>
                  </a:cubicBezTo>
                  <a:close/>
                </a:path>
              </a:pathLst>
            </a:custGeom>
            <a:solidFill>
              <a:srgbClr val="E9E6FA"/>
            </a:solidFill>
          </p:spPr>
        </p:sp>
        <p:sp>
          <p:nvSpPr>
            <p:cNvPr name="Freeform 25" id="25"/>
            <p:cNvSpPr/>
            <p:nvPr/>
          </p:nvSpPr>
          <p:spPr>
            <a:xfrm flipH="false" flipV="false" rot="0">
              <a:off x="0" y="0"/>
              <a:ext cx="12606782" cy="2821178"/>
            </a:xfrm>
            <a:custGeom>
              <a:avLst/>
              <a:gdLst/>
              <a:ahLst/>
              <a:cxnLst/>
              <a:rect r="r" b="b" t="t" l="l"/>
              <a:pathLst>
                <a:path h="2821178" w="12606782">
                  <a:moveTo>
                    <a:pt x="0" y="165100"/>
                  </a:moveTo>
                  <a:cubicBezTo>
                    <a:pt x="0" y="73914"/>
                    <a:pt x="74168" y="0"/>
                    <a:pt x="165735" y="0"/>
                  </a:cubicBezTo>
                  <a:lnTo>
                    <a:pt x="12441047" y="0"/>
                  </a:lnTo>
                  <a:lnTo>
                    <a:pt x="12441047" y="6350"/>
                  </a:lnTo>
                  <a:lnTo>
                    <a:pt x="12441047" y="0"/>
                  </a:lnTo>
                  <a:cubicBezTo>
                    <a:pt x="12532487" y="0"/>
                    <a:pt x="12606782" y="73914"/>
                    <a:pt x="12606782" y="165100"/>
                  </a:cubicBezTo>
                  <a:lnTo>
                    <a:pt x="12600432" y="165100"/>
                  </a:lnTo>
                  <a:lnTo>
                    <a:pt x="12606782" y="165100"/>
                  </a:lnTo>
                  <a:lnTo>
                    <a:pt x="12606782" y="2656078"/>
                  </a:lnTo>
                  <a:lnTo>
                    <a:pt x="12600432" y="2656078"/>
                  </a:lnTo>
                  <a:lnTo>
                    <a:pt x="12606782" y="2656078"/>
                  </a:lnTo>
                  <a:cubicBezTo>
                    <a:pt x="12606782" y="2747264"/>
                    <a:pt x="12532614" y="2821178"/>
                    <a:pt x="12441047" y="2821178"/>
                  </a:cubicBezTo>
                  <a:lnTo>
                    <a:pt x="12441047" y="2814828"/>
                  </a:lnTo>
                  <a:lnTo>
                    <a:pt x="12441047" y="2821178"/>
                  </a:lnTo>
                  <a:lnTo>
                    <a:pt x="165735" y="2821178"/>
                  </a:lnTo>
                  <a:lnTo>
                    <a:pt x="165735" y="2814828"/>
                  </a:lnTo>
                  <a:lnTo>
                    <a:pt x="165735" y="2821178"/>
                  </a:lnTo>
                  <a:cubicBezTo>
                    <a:pt x="74295" y="2821178"/>
                    <a:pt x="0" y="2747264"/>
                    <a:pt x="0" y="2656078"/>
                  </a:cubicBezTo>
                  <a:lnTo>
                    <a:pt x="0" y="165100"/>
                  </a:lnTo>
                  <a:lnTo>
                    <a:pt x="6350" y="165100"/>
                  </a:lnTo>
                  <a:lnTo>
                    <a:pt x="0" y="165100"/>
                  </a:lnTo>
                  <a:moveTo>
                    <a:pt x="12700" y="165100"/>
                  </a:moveTo>
                  <a:lnTo>
                    <a:pt x="12700" y="2656078"/>
                  </a:lnTo>
                  <a:lnTo>
                    <a:pt x="6350" y="2656078"/>
                  </a:lnTo>
                  <a:lnTo>
                    <a:pt x="12700" y="2656078"/>
                  </a:lnTo>
                  <a:cubicBezTo>
                    <a:pt x="12700" y="2740279"/>
                    <a:pt x="81153" y="2808478"/>
                    <a:pt x="165735" y="2808478"/>
                  </a:cubicBezTo>
                  <a:lnTo>
                    <a:pt x="12441047" y="2808478"/>
                  </a:lnTo>
                  <a:cubicBezTo>
                    <a:pt x="12525628" y="2808478"/>
                    <a:pt x="12594082" y="2740152"/>
                    <a:pt x="12594082" y="2656078"/>
                  </a:cubicBezTo>
                  <a:lnTo>
                    <a:pt x="12594082" y="165100"/>
                  </a:lnTo>
                  <a:cubicBezTo>
                    <a:pt x="12594082" y="80899"/>
                    <a:pt x="12525628" y="12700"/>
                    <a:pt x="12441047" y="12700"/>
                  </a:cubicBezTo>
                  <a:lnTo>
                    <a:pt x="165735" y="12700"/>
                  </a:lnTo>
                  <a:lnTo>
                    <a:pt x="165735" y="6350"/>
                  </a:lnTo>
                  <a:lnTo>
                    <a:pt x="165735" y="12700"/>
                  </a:lnTo>
                  <a:cubicBezTo>
                    <a:pt x="81153" y="12700"/>
                    <a:pt x="12700" y="81026"/>
                    <a:pt x="12700" y="165100"/>
                  </a:cubicBezTo>
                  <a:close/>
                </a:path>
              </a:pathLst>
            </a:custGeom>
            <a:solidFill>
              <a:srgbClr val="BDB8DF"/>
            </a:solidFill>
          </p:spPr>
        </p:sp>
      </p:grpSp>
      <p:sp>
        <p:nvSpPr>
          <p:cNvPr name="TextBox 26" id="26"/>
          <p:cNvSpPr txBox="true"/>
          <p:nvPr/>
        </p:nvSpPr>
        <p:spPr>
          <a:xfrm rot="0">
            <a:off x="1285284" y="7319220"/>
            <a:ext cx="3544043" cy="481012"/>
          </a:xfrm>
          <a:prstGeom prst="rect">
            <a:avLst/>
          </a:prstGeom>
        </p:spPr>
        <p:txBody>
          <a:bodyPr anchor="t" rtlCol="false" tIns="0" lIns="0" bIns="0" rIns="0">
            <a:spAutoFit/>
          </a:bodyPr>
          <a:lstStyle/>
          <a:p>
            <a:pPr algn="l">
              <a:lnSpc>
                <a:spcPts val="3437"/>
              </a:lnSpc>
            </a:pPr>
            <a:r>
              <a:rPr lang="en-US" sz="2750" b="true">
                <a:solidFill>
                  <a:srgbClr val="2A2742"/>
                </a:solidFill>
                <a:latin typeface="Arimo Bold"/>
                <a:ea typeface="Arimo Bold"/>
                <a:cs typeface="Arimo Bold"/>
                <a:sym typeface="Arimo Bold"/>
              </a:rPr>
              <a:t>The Goal</a:t>
            </a:r>
          </a:p>
        </p:txBody>
      </p:sp>
      <p:sp>
        <p:nvSpPr>
          <p:cNvPr name="TextBox 27" id="27"/>
          <p:cNvSpPr txBox="true"/>
          <p:nvPr/>
        </p:nvSpPr>
        <p:spPr>
          <a:xfrm rot="0">
            <a:off x="1285284" y="7865564"/>
            <a:ext cx="8859441" cy="1012031"/>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Computationally convert this RF "noise" into a clear, usable 2D medical image using linear systems and filtering concepts.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sp>
        <p:nvSpPr>
          <p:cNvPr name="TextBox 8" id="8"/>
          <p:cNvSpPr txBox="true"/>
          <p:nvPr/>
        </p:nvSpPr>
        <p:spPr>
          <a:xfrm rot="0">
            <a:off x="992238" y="1427407"/>
            <a:ext cx="10821438" cy="943127"/>
          </a:xfrm>
          <a:prstGeom prst="rect">
            <a:avLst/>
          </a:prstGeom>
        </p:spPr>
        <p:txBody>
          <a:bodyPr anchor="t" rtlCol="false" tIns="0" lIns="0" bIns="0" rIns="0">
            <a:spAutoFit/>
          </a:bodyPr>
          <a:lstStyle/>
          <a:p>
            <a:pPr algn="l">
              <a:lnSpc>
                <a:spcPts val="6937"/>
              </a:lnSpc>
            </a:pPr>
            <a:r>
              <a:rPr lang="en-US" sz="5562" b="true">
                <a:solidFill>
                  <a:srgbClr val="231971"/>
                </a:solidFill>
                <a:latin typeface="Arimo Bold"/>
                <a:ea typeface="Arimo Bold"/>
                <a:cs typeface="Arimo Bold"/>
                <a:sym typeface="Arimo Bold"/>
              </a:rPr>
              <a:t>Motivation &amp; Problem Statement</a:t>
            </a:r>
          </a:p>
        </p:txBody>
      </p:sp>
      <p:grpSp>
        <p:nvGrpSpPr>
          <p:cNvPr name="Group 9" id="9"/>
          <p:cNvGrpSpPr/>
          <p:nvPr/>
        </p:nvGrpSpPr>
        <p:grpSpPr>
          <a:xfrm rot="0">
            <a:off x="736625" y="3522164"/>
            <a:ext cx="5512070" cy="3674716"/>
            <a:chOff x="0" y="0"/>
            <a:chExt cx="7349427" cy="4899622"/>
          </a:xfrm>
        </p:grpSpPr>
        <p:sp>
          <p:nvSpPr>
            <p:cNvPr name="Freeform 10" id="10" descr="preencoded.png"/>
            <p:cNvSpPr/>
            <p:nvPr/>
          </p:nvSpPr>
          <p:spPr>
            <a:xfrm flipH="false" flipV="false" rot="0">
              <a:off x="0" y="0"/>
              <a:ext cx="7349490" cy="4899660"/>
            </a:xfrm>
            <a:custGeom>
              <a:avLst/>
              <a:gdLst/>
              <a:ahLst/>
              <a:cxnLst/>
              <a:rect r="r" b="b" t="t" l="l"/>
              <a:pathLst>
                <a:path h="4899660" w="7349490">
                  <a:moveTo>
                    <a:pt x="0" y="0"/>
                  </a:moveTo>
                  <a:lnTo>
                    <a:pt x="7349490" y="0"/>
                  </a:lnTo>
                  <a:lnTo>
                    <a:pt x="7349490" y="4899660"/>
                  </a:lnTo>
                  <a:lnTo>
                    <a:pt x="0" y="4899660"/>
                  </a:lnTo>
                  <a:lnTo>
                    <a:pt x="0" y="0"/>
                  </a:lnTo>
                  <a:close/>
                </a:path>
              </a:pathLst>
            </a:custGeom>
            <a:blipFill>
              <a:blip r:embed="rId6"/>
              <a:stretch>
                <a:fillRect l="0" t="0" r="0" b="0"/>
              </a:stretch>
            </a:blipFill>
          </p:spPr>
        </p:sp>
      </p:grpSp>
      <p:sp>
        <p:nvSpPr>
          <p:cNvPr name="TextBox 11" id="11"/>
          <p:cNvSpPr txBox="true"/>
          <p:nvPr/>
        </p:nvSpPr>
        <p:spPr>
          <a:xfrm rot="0">
            <a:off x="6949973" y="3041152"/>
            <a:ext cx="3544043" cy="481012"/>
          </a:xfrm>
          <a:prstGeom prst="rect">
            <a:avLst/>
          </a:prstGeom>
        </p:spPr>
        <p:txBody>
          <a:bodyPr anchor="t" rtlCol="false" tIns="0" lIns="0" bIns="0" rIns="0">
            <a:spAutoFit/>
          </a:bodyPr>
          <a:lstStyle/>
          <a:p>
            <a:pPr algn="l">
              <a:lnSpc>
                <a:spcPts val="3437"/>
              </a:lnSpc>
            </a:pPr>
            <a:r>
              <a:rPr lang="en-US" sz="2750" b="true">
                <a:solidFill>
                  <a:srgbClr val="231971"/>
                </a:solidFill>
                <a:latin typeface="Arimo Bold"/>
                <a:ea typeface="Arimo Bold"/>
                <a:cs typeface="Arimo Bold"/>
                <a:sym typeface="Arimo Bold"/>
              </a:rPr>
              <a:t>Clinical Need</a:t>
            </a:r>
          </a:p>
        </p:txBody>
      </p:sp>
      <p:sp>
        <p:nvSpPr>
          <p:cNvPr name="TextBox 12" id="12"/>
          <p:cNvSpPr txBox="true"/>
          <p:nvPr/>
        </p:nvSpPr>
        <p:spPr>
          <a:xfrm rot="0">
            <a:off x="6949973" y="3700910"/>
            <a:ext cx="10355161" cy="1012031"/>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Doctors rely on precise imaging for accurate diagnoses. Blurry or artifact-heavy images can obscure critical tissue boundaries, leading to missed findings.</a:t>
            </a:r>
          </a:p>
        </p:txBody>
      </p:sp>
      <p:sp>
        <p:nvSpPr>
          <p:cNvPr name="TextBox 13" id="13"/>
          <p:cNvSpPr txBox="true"/>
          <p:nvPr/>
        </p:nvSpPr>
        <p:spPr>
          <a:xfrm rot="0">
            <a:off x="6949973" y="4958353"/>
            <a:ext cx="4140841" cy="481012"/>
          </a:xfrm>
          <a:prstGeom prst="rect">
            <a:avLst/>
          </a:prstGeom>
        </p:spPr>
        <p:txBody>
          <a:bodyPr anchor="t" rtlCol="false" tIns="0" lIns="0" bIns="0" rIns="0">
            <a:spAutoFit/>
          </a:bodyPr>
          <a:lstStyle/>
          <a:p>
            <a:pPr algn="l">
              <a:lnSpc>
                <a:spcPts val="3437"/>
              </a:lnSpc>
            </a:pPr>
            <a:r>
              <a:rPr lang="en-US" sz="2750" b="true">
                <a:solidFill>
                  <a:srgbClr val="231971"/>
                </a:solidFill>
                <a:latin typeface="Arimo Bold"/>
                <a:ea typeface="Arimo Bold"/>
                <a:cs typeface="Arimo Bold"/>
                <a:sym typeface="Arimo Bold"/>
              </a:rPr>
              <a:t>The Software Advantage</a:t>
            </a:r>
          </a:p>
        </p:txBody>
      </p:sp>
      <p:sp>
        <p:nvSpPr>
          <p:cNvPr name="TextBox 14" id="14"/>
          <p:cNvSpPr txBox="true"/>
          <p:nvPr/>
        </p:nvSpPr>
        <p:spPr>
          <a:xfrm rot="0">
            <a:off x="6949973" y="5618112"/>
            <a:ext cx="10355161" cy="1012031"/>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Enhancing the signal processing pipeline improves resolution and contrast </a:t>
            </a:r>
            <a:r>
              <a:rPr lang="en-US" sz="2187" b="true">
                <a:solidFill>
                  <a:srgbClr val="2A2742"/>
                </a:solidFill>
                <a:latin typeface="Arimo Bold"/>
                <a:ea typeface="Arimo Bold"/>
                <a:cs typeface="Arimo Bold"/>
                <a:sym typeface="Arimo Bold"/>
              </a:rPr>
              <a:t>without</a:t>
            </a:r>
            <a:r>
              <a:rPr lang="en-US" sz="2187">
                <a:solidFill>
                  <a:srgbClr val="2A2742"/>
                </a:solidFill>
                <a:latin typeface="Arimo"/>
                <a:ea typeface="Arimo"/>
                <a:cs typeface="Arimo"/>
                <a:sym typeface="Arimo"/>
              </a:rPr>
              <a:t> expensive hardware upgrades.</a:t>
            </a:r>
          </a:p>
        </p:txBody>
      </p:sp>
      <p:sp>
        <p:nvSpPr>
          <p:cNvPr name="TextBox 15" id="15"/>
          <p:cNvSpPr txBox="true"/>
          <p:nvPr/>
        </p:nvSpPr>
        <p:spPr>
          <a:xfrm rot="0">
            <a:off x="6949973" y="6875564"/>
            <a:ext cx="3544043" cy="481012"/>
          </a:xfrm>
          <a:prstGeom prst="rect">
            <a:avLst/>
          </a:prstGeom>
        </p:spPr>
        <p:txBody>
          <a:bodyPr anchor="t" rtlCol="false" tIns="0" lIns="0" bIns="0" rIns="0">
            <a:spAutoFit/>
          </a:bodyPr>
          <a:lstStyle/>
          <a:p>
            <a:pPr algn="l">
              <a:lnSpc>
                <a:spcPts val="3437"/>
              </a:lnSpc>
            </a:pPr>
            <a:r>
              <a:rPr lang="en-US" sz="2750" b="true">
                <a:solidFill>
                  <a:srgbClr val="231971"/>
                </a:solidFill>
                <a:latin typeface="Arimo Bold"/>
                <a:ea typeface="Arimo Bold"/>
                <a:cs typeface="Arimo Bold"/>
                <a:sym typeface="Arimo Bold"/>
              </a:rPr>
              <a:t>The Core Challenge</a:t>
            </a:r>
          </a:p>
        </p:txBody>
      </p:sp>
      <p:sp>
        <p:nvSpPr>
          <p:cNvPr name="TextBox 16" id="16"/>
          <p:cNvSpPr txBox="true"/>
          <p:nvPr/>
        </p:nvSpPr>
        <p:spPr>
          <a:xfrm rot="0">
            <a:off x="6949973" y="7535313"/>
            <a:ext cx="10355161" cy="1012031"/>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Basic reconstruction leaves </a:t>
            </a:r>
            <a:r>
              <a:rPr lang="en-US" sz="2187" b="true">
                <a:solidFill>
                  <a:srgbClr val="2A2742"/>
                </a:solidFill>
                <a:latin typeface="Arimo Bold"/>
                <a:ea typeface="Arimo Bold"/>
                <a:cs typeface="Arimo Bold"/>
                <a:sym typeface="Arimo Bold"/>
              </a:rPr>
              <a:t>haze, side lobes, and "butterfly" artifacts</a:t>
            </a:r>
            <a:r>
              <a:rPr lang="en-US" sz="2187">
                <a:solidFill>
                  <a:srgbClr val="2A2742"/>
                </a:solidFill>
                <a:latin typeface="Arimo"/>
                <a:ea typeface="Arimo"/>
                <a:cs typeface="Arimo"/>
                <a:sym typeface="Arimo"/>
              </a:rPr>
              <a:t> around targets — degrading resolution and diagnostic confidence.</a:t>
            </a:r>
          </a:p>
        </p:txBody>
      </p:sp>
      <p:grpSp>
        <p:nvGrpSpPr>
          <p:cNvPr name="Group 17" id="17"/>
          <p:cNvGrpSpPr/>
          <p:nvPr/>
        </p:nvGrpSpPr>
        <p:grpSpPr>
          <a:xfrm rot="0">
            <a:off x="15563850" y="9379744"/>
            <a:ext cx="2724150" cy="907256"/>
            <a:chOff x="0" y="0"/>
            <a:chExt cx="3632200" cy="1209675"/>
          </a:xfrm>
        </p:grpSpPr>
        <p:sp>
          <p:nvSpPr>
            <p:cNvPr name="Freeform 18" id="18"/>
            <p:cNvSpPr/>
            <p:nvPr/>
          </p:nvSpPr>
          <p:spPr>
            <a:xfrm flipH="false" flipV="false" rot="0">
              <a:off x="0" y="0"/>
              <a:ext cx="3632200" cy="1209675"/>
            </a:xfrm>
            <a:custGeom>
              <a:avLst/>
              <a:gdLst/>
              <a:ahLst/>
              <a:cxnLst/>
              <a:rect r="r" b="b" t="t" l="l"/>
              <a:pathLst>
                <a:path h="1209675" w="3632200">
                  <a:moveTo>
                    <a:pt x="0" y="0"/>
                  </a:moveTo>
                  <a:lnTo>
                    <a:pt x="3632200" y="0"/>
                  </a:lnTo>
                  <a:lnTo>
                    <a:pt x="3632200" y="1209675"/>
                  </a:lnTo>
                  <a:lnTo>
                    <a:pt x="0" y="1209675"/>
                  </a:lnTo>
                  <a:close/>
                </a:path>
              </a:pathLst>
            </a:custGeom>
            <a:solidFill>
              <a:srgbClr val="EEEEF4"/>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sp>
        <p:nvSpPr>
          <p:cNvPr name="TextBox 8" id="8"/>
          <p:cNvSpPr txBox="true"/>
          <p:nvPr/>
        </p:nvSpPr>
        <p:spPr>
          <a:xfrm rot="0">
            <a:off x="992238" y="1204017"/>
            <a:ext cx="7088238" cy="943127"/>
          </a:xfrm>
          <a:prstGeom prst="rect">
            <a:avLst/>
          </a:prstGeom>
        </p:spPr>
        <p:txBody>
          <a:bodyPr anchor="t" rtlCol="false" tIns="0" lIns="0" bIns="0" rIns="0">
            <a:spAutoFit/>
          </a:bodyPr>
          <a:lstStyle/>
          <a:p>
            <a:pPr algn="l">
              <a:lnSpc>
                <a:spcPts val="6937"/>
              </a:lnSpc>
            </a:pPr>
            <a:r>
              <a:rPr lang="en-US" sz="5562" b="true">
                <a:solidFill>
                  <a:srgbClr val="231971"/>
                </a:solidFill>
                <a:latin typeface="Arimo Bold"/>
                <a:ea typeface="Arimo Bold"/>
                <a:cs typeface="Arimo Bold"/>
                <a:sym typeface="Arimo Bold"/>
              </a:rPr>
              <a:t>Project Objectives</a:t>
            </a:r>
          </a:p>
        </p:txBody>
      </p:sp>
      <p:grpSp>
        <p:nvGrpSpPr>
          <p:cNvPr name="Group 9" id="9"/>
          <p:cNvGrpSpPr/>
          <p:nvPr/>
        </p:nvGrpSpPr>
        <p:grpSpPr>
          <a:xfrm rot="0">
            <a:off x="973188" y="2695127"/>
            <a:ext cx="8048034" cy="3052172"/>
            <a:chOff x="0" y="0"/>
            <a:chExt cx="10730713" cy="4069563"/>
          </a:xfrm>
        </p:grpSpPr>
        <p:sp>
          <p:nvSpPr>
            <p:cNvPr name="Freeform 10" id="10"/>
            <p:cNvSpPr/>
            <p:nvPr/>
          </p:nvSpPr>
          <p:spPr>
            <a:xfrm flipH="false" flipV="false" rot="0">
              <a:off x="25400" y="25400"/>
              <a:ext cx="10679938" cy="4018788"/>
            </a:xfrm>
            <a:custGeom>
              <a:avLst/>
              <a:gdLst/>
              <a:ahLst/>
              <a:cxnLst/>
              <a:rect r="r" b="b" t="t" l="l"/>
              <a:pathLst>
                <a:path h="4018788" w="10679938">
                  <a:moveTo>
                    <a:pt x="0" y="158750"/>
                  </a:moveTo>
                  <a:cubicBezTo>
                    <a:pt x="0" y="71120"/>
                    <a:pt x="71628" y="0"/>
                    <a:pt x="160020" y="0"/>
                  </a:cubicBezTo>
                  <a:lnTo>
                    <a:pt x="10519918" y="0"/>
                  </a:lnTo>
                  <a:cubicBezTo>
                    <a:pt x="10608311" y="0"/>
                    <a:pt x="10679938" y="71120"/>
                    <a:pt x="10679938" y="158750"/>
                  </a:cubicBezTo>
                  <a:lnTo>
                    <a:pt x="10679938" y="3860038"/>
                  </a:lnTo>
                  <a:cubicBezTo>
                    <a:pt x="10679938" y="3947668"/>
                    <a:pt x="10608311" y="4018788"/>
                    <a:pt x="10519918" y="4018788"/>
                  </a:cubicBezTo>
                  <a:lnTo>
                    <a:pt x="160020" y="4018788"/>
                  </a:lnTo>
                  <a:cubicBezTo>
                    <a:pt x="71628" y="4018788"/>
                    <a:pt x="0" y="3947668"/>
                    <a:pt x="0" y="3860038"/>
                  </a:cubicBezTo>
                  <a:close/>
                </a:path>
              </a:pathLst>
            </a:custGeom>
            <a:solidFill>
              <a:srgbClr val="FAFAFA">
                <a:alpha val="90196"/>
              </a:srgbClr>
            </a:solidFill>
          </p:spPr>
        </p:sp>
        <p:sp>
          <p:nvSpPr>
            <p:cNvPr name="Freeform 11" id="11"/>
            <p:cNvSpPr/>
            <p:nvPr/>
          </p:nvSpPr>
          <p:spPr>
            <a:xfrm flipH="false" flipV="false" rot="0">
              <a:off x="0" y="0"/>
              <a:ext cx="10730738" cy="4069588"/>
            </a:xfrm>
            <a:custGeom>
              <a:avLst/>
              <a:gdLst/>
              <a:ahLst/>
              <a:cxnLst/>
              <a:rect r="r" b="b" t="t" l="l"/>
              <a:pathLst>
                <a:path h="4069588" w="10730738">
                  <a:moveTo>
                    <a:pt x="0" y="184150"/>
                  </a:moveTo>
                  <a:cubicBezTo>
                    <a:pt x="0" y="82296"/>
                    <a:pt x="83185" y="0"/>
                    <a:pt x="185420" y="0"/>
                  </a:cubicBezTo>
                  <a:lnTo>
                    <a:pt x="10545318" y="0"/>
                  </a:lnTo>
                  <a:lnTo>
                    <a:pt x="10545318" y="25400"/>
                  </a:lnTo>
                  <a:lnTo>
                    <a:pt x="10545318" y="0"/>
                  </a:lnTo>
                  <a:cubicBezTo>
                    <a:pt x="10647553" y="0"/>
                    <a:pt x="10730738" y="82296"/>
                    <a:pt x="10730738" y="184150"/>
                  </a:cubicBezTo>
                  <a:lnTo>
                    <a:pt x="10705338" y="184150"/>
                  </a:lnTo>
                  <a:lnTo>
                    <a:pt x="10730738" y="184150"/>
                  </a:lnTo>
                  <a:lnTo>
                    <a:pt x="10730738" y="3885438"/>
                  </a:lnTo>
                  <a:lnTo>
                    <a:pt x="10705338" y="3885438"/>
                  </a:lnTo>
                  <a:lnTo>
                    <a:pt x="10730738" y="3885438"/>
                  </a:lnTo>
                  <a:cubicBezTo>
                    <a:pt x="10730738" y="3987292"/>
                    <a:pt x="10647553" y="4069588"/>
                    <a:pt x="10545318" y="4069588"/>
                  </a:cubicBezTo>
                  <a:lnTo>
                    <a:pt x="10545318" y="4044188"/>
                  </a:lnTo>
                  <a:lnTo>
                    <a:pt x="10545318" y="4069588"/>
                  </a:lnTo>
                  <a:lnTo>
                    <a:pt x="185420" y="4069588"/>
                  </a:lnTo>
                  <a:lnTo>
                    <a:pt x="185420" y="4044188"/>
                  </a:lnTo>
                  <a:lnTo>
                    <a:pt x="185420" y="4069588"/>
                  </a:lnTo>
                  <a:cubicBezTo>
                    <a:pt x="83185" y="4069588"/>
                    <a:pt x="0" y="3987292"/>
                    <a:pt x="0" y="3885438"/>
                  </a:cubicBezTo>
                  <a:lnTo>
                    <a:pt x="0" y="184150"/>
                  </a:lnTo>
                  <a:lnTo>
                    <a:pt x="25400" y="184150"/>
                  </a:lnTo>
                  <a:lnTo>
                    <a:pt x="0" y="184150"/>
                  </a:lnTo>
                  <a:moveTo>
                    <a:pt x="50800" y="184150"/>
                  </a:moveTo>
                  <a:lnTo>
                    <a:pt x="50800" y="3885438"/>
                  </a:lnTo>
                  <a:lnTo>
                    <a:pt x="25400" y="3885438"/>
                  </a:lnTo>
                  <a:lnTo>
                    <a:pt x="50800" y="3885438"/>
                  </a:lnTo>
                  <a:cubicBezTo>
                    <a:pt x="50800" y="3958971"/>
                    <a:pt x="110871" y="4018788"/>
                    <a:pt x="185420" y="4018788"/>
                  </a:cubicBezTo>
                  <a:lnTo>
                    <a:pt x="10545318" y="4018788"/>
                  </a:lnTo>
                  <a:cubicBezTo>
                    <a:pt x="10619867" y="4018788"/>
                    <a:pt x="10679938" y="3958844"/>
                    <a:pt x="10679938" y="3885438"/>
                  </a:cubicBezTo>
                  <a:lnTo>
                    <a:pt x="10679938" y="184150"/>
                  </a:lnTo>
                  <a:cubicBezTo>
                    <a:pt x="10679938" y="110617"/>
                    <a:pt x="10619867" y="50800"/>
                    <a:pt x="10545318" y="50800"/>
                  </a:cubicBezTo>
                  <a:lnTo>
                    <a:pt x="185420" y="50800"/>
                  </a:lnTo>
                  <a:lnTo>
                    <a:pt x="185420" y="25400"/>
                  </a:lnTo>
                  <a:lnTo>
                    <a:pt x="185420" y="50800"/>
                  </a:lnTo>
                  <a:cubicBezTo>
                    <a:pt x="110871" y="50800"/>
                    <a:pt x="50800" y="110744"/>
                    <a:pt x="50800" y="184150"/>
                  </a:cubicBezTo>
                  <a:close/>
                </a:path>
              </a:pathLst>
            </a:custGeom>
            <a:solidFill>
              <a:srgbClr val="BDB8DF"/>
            </a:solidFill>
          </p:spPr>
        </p:sp>
      </p:grpSp>
      <p:grpSp>
        <p:nvGrpSpPr>
          <p:cNvPr name="Group 12" id="12"/>
          <p:cNvGrpSpPr/>
          <p:nvPr/>
        </p:nvGrpSpPr>
        <p:grpSpPr>
          <a:xfrm rot="0">
            <a:off x="1030338" y="2752277"/>
            <a:ext cx="7933734" cy="850554"/>
            <a:chOff x="0" y="0"/>
            <a:chExt cx="10578313" cy="1134072"/>
          </a:xfrm>
        </p:grpSpPr>
        <p:sp>
          <p:nvSpPr>
            <p:cNvPr name="Freeform 13" id="13"/>
            <p:cNvSpPr/>
            <p:nvPr/>
          </p:nvSpPr>
          <p:spPr>
            <a:xfrm flipH="false" flipV="false" rot="0">
              <a:off x="0" y="0"/>
              <a:ext cx="10578211" cy="1133983"/>
            </a:xfrm>
            <a:custGeom>
              <a:avLst/>
              <a:gdLst/>
              <a:ahLst/>
              <a:cxnLst/>
              <a:rect r="r" b="b" t="t" l="l"/>
              <a:pathLst>
                <a:path h="1133983" w="10578211">
                  <a:moveTo>
                    <a:pt x="0" y="97790"/>
                  </a:moveTo>
                  <a:cubicBezTo>
                    <a:pt x="0" y="43815"/>
                    <a:pt x="43815" y="0"/>
                    <a:pt x="97790" y="0"/>
                  </a:cubicBezTo>
                  <a:lnTo>
                    <a:pt x="10480421" y="0"/>
                  </a:lnTo>
                  <a:cubicBezTo>
                    <a:pt x="10534396" y="0"/>
                    <a:pt x="10578211" y="43815"/>
                    <a:pt x="10578211" y="97790"/>
                  </a:cubicBezTo>
                  <a:lnTo>
                    <a:pt x="10578211" y="1036193"/>
                  </a:lnTo>
                  <a:cubicBezTo>
                    <a:pt x="10578211" y="1090168"/>
                    <a:pt x="10534396" y="1133983"/>
                    <a:pt x="10480421" y="1133983"/>
                  </a:cubicBezTo>
                  <a:lnTo>
                    <a:pt x="97790" y="1133983"/>
                  </a:lnTo>
                  <a:cubicBezTo>
                    <a:pt x="43815" y="1133983"/>
                    <a:pt x="0" y="1090168"/>
                    <a:pt x="0" y="1036193"/>
                  </a:cubicBezTo>
                  <a:close/>
                </a:path>
              </a:pathLst>
            </a:custGeom>
            <a:solidFill>
              <a:srgbClr val="E9E6FA"/>
            </a:solidFill>
          </p:spPr>
        </p:sp>
      </p:grpSp>
      <p:sp>
        <p:nvSpPr>
          <p:cNvPr name="TextBox 14" id="14"/>
          <p:cNvSpPr txBox="true"/>
          <p:nvPr/>
        </p:nvSpPr>
        <p:spPr>
          <a:xfrm rot="0">
            <a:off x="4784522" y="2945016"/>
            <a:ext cx="425206" cy="493509"/>
          </a:xfrm>
          <a:prstGeom prst="rect">
            <a:avLst/>
          </a:prstGeom>
        </p:spPr>
        <p:txBody>
          <a:bodyPr anchor="t" rtlCol="false" tIns="0" lIns="0" bIns="0" rIns="0">
            <a:spAutoFit/>
          </a:bodyPr>
          <a:lstStyle/>
          <a:p>
            <a:pPr algn="l">
              <a:lnSpc>
                <a:spcPts val="3312"/>
              </a:lnSpc>
            </a:pPr>
            <a:r>
              <a:rPr lang="en-US" sz="3312" b="true">
                <a:solidFill>
                  <a:srgbClr val="2A2742"/>
                </a:solidFill>
                <a:latin typeface="Arimo Bold"/>
                <a:ea typeface="Arimo Bold"/>
                <a:cs typeface="Arimo Bold"/>
                <a:sym typeface="Arimo Bold"/>
              </a:rPr>
              <a:t>1</a:t>
            </a:r>
          </a:p>
        </p:txBody>
      </p:sp>
      <p:sp>
        <p:nvSpPr>
          <p:cNvPr name="TextBox 15" id="15"/>
          <p:cNvSpPr txBox="true"/>
          <p:nvPr/>
        </p:nvSpPr>
        <p:spPr>
          <a:xfrm rot="0">
            <a:off x="1313859" y="3848252"/>
            <a:ext cx="3544043" cy="481012"/>
          </a:xfrm>
          <a:prstGeom prst="rect">
            <a:avLst/>
          </a:prstGeom>
        </p:spPr>
        <p:txBody>
          <a:bodyPr anchor="t" rtlCol="false" tIns="0" lIns="0" bIns="0" rIns="0">
            <a:spAutoFit/>
          </a:bodyPr>
          <a:lstStyle/>
          <a:p>
            <a:pPr algn="l">
              <a:lnSpc>
                <a:spcPts val="3437"/>
              </a:lnSpc>
            </a:pPr>
            <a:r>
              <a:rPr lang="en-US" sz="2750" b="true">
                <a:solidFill>
                  <a:srgbClr val="2A2742"/>
                </a:solidFill>
                <a:latin typeface="Arimo Bold"/>
                <a:ea typeface="Arimo Bold"/>
                <a:cs typeface="Arimo Bold"/>
                <a:sym typeface="Arimo Bold"/>
              </a:rPr>
              <a:t>Design the Pipeline</a:t>
            </a:r>
          </a:p>
        </p:txBody>
      </p:sp>
      <p:sp>
        <p:nvSpPr>
          <p:cNvPr name="TextBox 16" id="16"/>
          <p:cNvSpPr txBox="true"/>
          <p:nvPr/>
        </p:nvSpPr>
        <p:spPr>
          <a:xfrm rot="0">
            <a:off x="1313859" y="4394597"/>
            <a:ext cx="7366692" cy="1012031"/>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Build a complete, step-by-step signal processing pipeline for raw RF ultrasound data.</a:t>
            </a:r>
          </a:p>
        </p:txBody>
      </p:sp>
      <p:grpSp>
        <p:nvGrpSpPr>
          <p:cNvPr name="Group 17" id="17"/>
          <p:cNvGrpSpPr/>
          <p:nvPr/>
        </p:nvGrpSpPr>
        <p:grpSpPr>
          <a:xfrm rot="0">
            <a:off x="9266634" y="2695127"/>
            <a:ext cx="8048177" cy="3052172"/>
            <a:chOff x="0" y="0"/>
            <a:chExt cx="10730903" cy="4069563"/>
          </a:xfrm>
        </p:grpSpPr>
        <p:sp>
          <p:nvSpPr>
            <p:cNvPr name="Freeform 18" id="18"/>
            <p:cNvSpPr/>
            <p:nvPr/>
          </p:nvSpPr>
          <p:spPr>
            <a:xfrm flipH="false" flipV="false" rot="0">
              <a:off x="25400" y="25400"/>
              <a:ext cx="10680064" cy="4018788"/>
            </a:xfrm>
            <a:custGeom>
              <a:avLst/>
              <a:gdLst/>
              <a:ahLst/>
              <a:cxnLst/>
              <a:rect r="r" b="b" t="t" l="l"/>
              <a:pathLst>
                <a:path h="4018788" w="10680064">
                  <a:moveTo>
                    <a:pt x="0" y="158750"/>
                  </a:moveTo>
                  <a:cubicBezTo>
                    <a:pt x="0" y="71120"/>
                    <a:pt x="71628" y="0"/>
                    <a:pt x="160020" y="0"/>
                  </a:cubicBezTo>
                  <a:lnTo>
                    <a:pt x="10520045" y="0"/>
                  </a:lnTo>
                  <a:cubicBezTo>
                    <a:pt x="10608437" y="0"/>
                    <a:pt x="10680064" y="71120"/>
                    <a:pt x="10680064" y="158750"/>
                  </a:cubicBezTo>
                  <a:lnTo>
                    <a:pt x="10680064" y="3860038"/>
                  </a:lnTo>
                  <a:cubicBezTo>
                    <a:pt x="10680064" y="3947668"/>
                    <a:pt x="10608437" y="4018788"/>
                    <a:pt x="10520045" y="4018788"/>
                  </a:cubicBezTo>
                  <a:lnTo>
                    <a:pt x="160020" y="4018788"/>
                  </a:lnTo>
                  <a:cubicBezTo>
                    <a:pt x="71628" y="4018788"/>
                    <a:pt x="0" y="3947668"/>
                    <a:pt x="0" y="3860038"/>
                  </a:cubicBezTo>
                  <a:close/>
                </a:path>
              </a:pathLst>
            </a:custGeom>
            <a:solidFill>
              <a:srgbClr val="FAFAFA">
                <a:alpha val="90196"/>
              </a:srgbClr>
            </a:solidFill>
          </p:spPr>
        </p:sp>
        <p:sp>
          <p:nvSpPr>
            <p:cNvPr name="Freeform 19" id="19"/>
            <p:cNvSpPr/>
            <p:nvPr/>
          </p:nvSpPr>
          <p:spPr>
            <a:xfrm flipH="false" flipV="false" rot="0">
              <a:off x="0" y="0"/>
              <a:ext cx="10730864" cy="4069588"/>
            </a:xfrm>
            <a:custGeom>
              <a:avLst/>
              <a:gdLst/>
              <a:ahLst/>
              <a:cxnLst/>
              <a:rect r="r" b="b" t="t" l="l"/>
              <a:pathLst>
                <a:path h="4069588" w="10730864">
                  <a:moveTo>
                    <a:pt x="0" y="184150"/>
                  </a:moveTo>
                  <a:cubicBezTo>
                    <a:pt x="0" y="82296"/>
                    <a:pt x="83185" y="0"/>
                    <a:pt x="185420" y="0"/>
                  </a:cubicBezTo>
                  <a:lnTo>
                    <a:pt x="10545445" y="0"/>
                  </a:lnTo>
                  <a:lnTo>
                    <a:pt x="10545445" y="25400"/>
                  </a:lnTo>
                  <a:lnTo>
                    <a:pt x="10545445" y="0"/>
                  </a:lnTo>
                  <a:cubicBezTo>
                    <a:pt x="10647680" y="0"/>
                    <a:pt x="10730864" y="82296"/>
                    <a:pt x="10730864" y="184150"/>
                  </a:cubicBezTo>
                  <a:lnTo>
                    <a:pt x="10705464" y="184150"/>
                  </a:lnTo>
                  <a:lnTo>
                    <a:pt x="10730864" y="184150"/>
                  </a:lnTo>
                  <a:lnTo>
                    <a:pt x="10730864" y="3885438"/>
                  </a:lnTo>
                  <a:lnTo>
                    <a:pt x="10705464" y="3885438"/>
                  </a:lnTo>
                  <a:lnTo>
                    <a:pt x="10730864" y="3885438"/>
                  </a:lnTo>
                  <a:cubicBezTo>
                    <a:pt x="10730864" y="3987292"/>
                    <a:pt x="10647680" y="4069588"/>
                    <a:pt x="10545445" y="4069588"/>
                  </a:cubicBezTo>
                  <a:lnTo>
                    <a:pt x="10545445" y="4044188"/>
                  </a:lnTo>
                  <a:lnTo>
                    <a:pt x="10545445" y="4069588"/>
                  </a:lnTo>
                  <a:lnTo>
                    <a:pt x="185420" y="4069588"/>
                  </a:lnTo>
                  <a:lnTo>
                    <a:pt x="185420" y="4044188"/>
                  </a:lnTo>
                  <a:lnTo>
                    <a:pt x="185420" y="4069588"/>
                  </a:lnTo>
                  <a:cubicBezTo>
                    <a:pt x="83185" y="4069588"/>
                    <a:pt x="0" y="3987292"/>
                    <a:pt x="0" y="3885438"/>
                  </a:cubicBezTo>
                  <a:lnTo>
                    <a:pt x="0" y="184150"/>
                  </a:lnTo>
                  <a:lnTo>
                    <a:pt x="25400" y="184150"/>
                  </a:lnTo>
                  <a:lnTo>
                    <a:pt x="0" y="184150"/>
                  </a:lnTo>
                  <a:moveTo>
                    <a:pt x="50800" y="184150"/>
                  </a:moveTo>
                  <a:lnTo>
                    <a:pt x="50800" y="3885438"/>
                  </a:lnTo>
                  <a:lnTo>
                    <a:pt x="25400" y="3885438"/>
                  </a:lnTo>
                  <a:lnTo>
                    <a:pt x="50800" y="3885438"/>
                  </a:lnTo>
                  <a:cubicBezTo>
                    <a:pt x="50800" y="3958971"/>
                    <a:pt x="110871" y="4018788"/>
                    <a:pt x="185420" y="4018788"/>
                  </a:cubicBezTo>
                  <a:lnTo>
                    <a:pt x="10545445" y="4018788"/>
                  </a:lnTo>
                  <a:cubicBezTo>
                    <a:pt x="10619994" y="4018788"/>
                    <a:pt x="10680064" y="3958844"/>
                    <a:pt x="10680064" y="3885438"/>
                  </a:cubicBezTo>
                  <a:lnTo>
                    <a:pt x="10680064" y="184150"/>
                  </a:lnTo>
                  <a:cubicBezTo>
                    <a:pt x="10680064" y="110617"/>
                    <a:pt x="10619994" y="50800"/>
                    <a:pt x="10545445" y="50800"/>
                  </a:cubicBezTo>
                  <a:lnTo>
                    <a:pt x="185420" y="50800"/>
                  </a:lnTo>
                  <a:lnTo>
                    <a:pt x="185420" y="25400"/>
                  </a:lnTo>
                  <a:lnTo>
                    <a:pt x="185420" y="50800"/>
                  </a:lnTo>
                  <a:cubicBezTo>
                    <a:pt x="110871" y="50800"/>
                    <a:pt x="50800" y="110744"/>
                    <a:pt x="50800" y="184150"/>
                  </a:cubicBezTo>
                  <a:close/>
                </a:path>
              </a:pathLst>
            </a:custGeom>
            <a:solidFill>
              <a:srgbClr val="BDB8DF"/>
            </a:solidFill>
          </p:spPr>
        </p:sp>
      </p:grpSp>
      <p:grpSp>
        <p:nvGrpSpPr>
          <p:cNvPr name="Group 20" id="20"/>
          <p:cNvGrpSpPr/>
          <p:nvPr/>
        </p:nvGrpSpPr>
        <p:grpSpPr>
          <a:xfrm rot="0">
            <a:off x="9323784" y="2752277"/>
            <a:ext cx="7933877" cy="850554"/>
            <a:chOff x="0" y="0"/>
            <a:chExt cx="10578503" cy="1134072"/>
          </a:xfrm>
        </p:grpSpPr>
        <p:sp>
          <p:nvSpPr>
            <p:cNvPr name="Freeform 21" id="21"/>
            <p:cNvSpPr/>
            <p:nvPr/>
          </p:nvSpPr>
          <p:spPr>
            <a:xfrm flipH="false" flipV="false" rot="0">
              <a:off x="0" y="0"/>
              <a:ext cx="10578465" cy="1133983"/>
            </a:xfrm>
            <a:custGeom>
              <a:avLst/>
              <a:gdLst/>
              <a:ahLst/>
              <a:cxnLst/>
              <a:rect r="r" b="b" t="t" l="l"/>
              <a:pathLst>
                <a:path h="1133983" w="10578465">
                  <a:moveTo>
                    <a:pt x="0" y="97790"/>
                  </a:moveTo>
                  <a:cubicBezTo>
                    <a:pt x="0" y="43815"/>
                    <a:pt x="43815" y="0"/>
                    <a:pt x="97790" y="0"/>
                  </a:cubicBezTo>
                  <a:lnTo>
                    <a:pt x="10480675" y="0"/>
                  </a:lnTo>
                  <a:cubicBezTo>
                    <a:pt x="10534650" y="0"/>
                    <a:pt x="10578465" y="43815"/>
                    <a:pt x="10578465" y="97790"/>
                  </a:cubicBezTo>
                  <a:lnTo>
                    <a:pt x="10578465" y="1036193"/>
                  </a:lnTo>
                  <a:cubicBezTo>
                    <a:pt x="10578465" y="1090168"/>
                    <a:pt x="10534650" y="1133983"/>
                    <a:pt x="10480675" y="1133983"/>
                  </a:cubicBezTo>
                  <a:lnTo>
                    <a:pt x="97790" y="1133983"/>
                  </a:lnTo>
                  <a:cubicBezTo>
                    <a:pt x="43815" y="1133983"/>
                    <a:pt x="0" y="1090168"/>
                    <a:pt x="0" y="1036193"/>
                  </a:cubicBezTo>
                  <a:close/>
                </a:path>
              </a:pathLst>
            </a:custGeom>
            <a:solidFill>
              <a:srgbClr val="E9E6FA"/>
            </a:solidFill>
          </p:spPr>
        </p:sp>
      </p:grpSp>
      <p:sp>
        <p:nvSpPr>
          <p:cNvPr name="TextBox 22" id="22"/>
          <p:cNvSpPr txBox="true"/>
          <p:nvPr/>
        </p:nvSpPr>
        <p:spPr>
          <a:xfrm rot="0">
            <a:off x="13078120" y="2945016"/>
            <a:ext cx="425206" cy="493509"/>
          </a:xfrm>
          <a:prstGeom prst="rect">
            <a:avLst/>
          </a:prstGeom>
        </p:spPr>
        <p:txBody>
          <a:bodyPr anchor="t" rtlCol="false" tIns="0" lIns="0" bIns="0" rIns="0">
            <a:spAutoFit/>
          </a:bodyPr>
          <a:lstStyle/>
          <a:p>
            <a:pPr algn="l">
              <a:lnSpc>
                <a:spcPts val="3312"/>
              </a:lnSpc>
            </a:pPr>
            <a:r>
              <a:rPr lang="en-US" sz="3312" b="true">
                <a:solidFill>
                  <a:srgbClr val="2A2742"/>
                </a:solidFill>
                <a:latin typeface="Arimo Bold"/>
                <a:ea typeface="Arimo Bold"/>
                <a:cs typeface="Arimo Bold"/>
                <a:sym typeface="Arimo Bold"/>
              </a:rPr>
              <a:t>2</a:t>
            </a:r>
          </a:p>
        </p:txBody>
      </p:sp>
      <p:sp>
        <p:nvSpPr>
          <p:cNvPr name="TextBox 23" id="23"/>
          <p:cNvSpPr txBox="true"/>
          <p:nvPr/>
        </p:nvSpPr>
        <p:spPr>
          <a:xfrm rot="0">
            <a:off x="9607306" y="3848252"/>
            <a:ext cx="4937074" cy="481012"/>
          </a:xfrm>
          <a:prstGeom prst="rect">
            <a:avLst/>
          </a:prstGeom>
        </p:spPr>
        <p:txBody>
          <a:bodyPr anchor="t" rtlCol="false" tIns="0" lIns="0" bIns="0" rIns="0">
            <a:spAutoFit/>
          </a:bodyPr>
          <a:lstStyle/>
          <a:p>
            <a:pPr algn="l">
              <a:lnSpc>
                <a:spcPts val="3437"/>
              </a:lnSpc>
            </a:pPr>
            <a:r>
              <a:rPr lang="en-US" sz="2750" b="true">
                <a:solidFill>
                  <a:srgbClr val="2A2742"/>
                </a:solidFill>
                <a:latin typeface="Arimo Bold"/>
                <a:ea typeface="Arimo Bold"/>
                <a:cs typeface="Arimo Bold"/>
                <a:sym typeface="Arimo Bold"/>
              </a:rPr>
              <a:t>Implement DAS Beamforming</a:t>
            </a:r>
          </a:p>
        </p:txBody>
      </p:sp>
      <p:sp>
        <p:nvSpPr>
          <p:cNvPr name="TextBox 24" id="24"/>
          <p:cNvSpPr txBox="true"/>
          <p:nvPr/>
        </p:nvSpPr>
        <p:spPr>
          <a:xfrm rot="0">
            <a:off x="9607306" y="4394597"/>
            <a:ext cx="7366845" cy="1012031"/>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Establish the industry-standard Delay-and-Sum baseline as a reference model.</a:t>
            </a:r>
          </a:p>
        </p:txBody>
      </p:sp>
      <p:grpSp>
        <p:nvGrpSpPr>
          <p:cNvPr name="Group 25" id="25"/>
          <p:cNvGrpSpPr/>
          <p:nvPr/>
        </p:nvGrpSpPr>
        <p:grpSpPr>
          <a:xfrm rot="0">
            <a:off x="973188" y="5992711"/>
            <a:ext cx="8048034" cy="3052172"/>
            <a:chOff x="0" y="0"/>
            <a:chExt cx="10730713" cy="4069563"/>
          </a:xfrm>
        </p:grpSpPr>
        <p:sp>
          <p:nvSpPr>
            <p:cNvPr name="Freeform 26" id="26"/>
            <p:cNvSpPr/>
            <p:nvPr/>
          </p:nvSpPr>
          <p:spPr>
            <a:xfrm flipH="false" flipV="false" rot="0">
              <a:off x="25400" y="25400"/>
              <a:ext cx="10679938" cy="4018788"/>
            </a:xfrm>
            <a:custGeom>
              <a:avLst/>
              <a:gdLst/>
              <a:ahLst/>
              <a:cxnLst/>
              <a:rect r="r" b="b" t="t" l="l"/>
              <a:pathLst>
                <a:path h="4018788" w="10679938">
                  <a:moveTo>
                    <a:pt x="0" y="158750"/>
                  </a:moveTo>
                  <a:cubicBezTo>
                    <a:pt x="0" y="71120"/>
                    <a:pt x="71628" y="0"/>
                    <a:pt x="160020" y="0"/>
                  </a:cubicBezTo>
                  <a:lnTo>
                    <a:pt x="10519918" y="0"/>
                  </a:lnTo>
                  <a:cubicBezTo>
                    <a:pt x="10608311" y="0"/>
                    <a:pt x="10679938" y="71120"/>
                    <a:pt x="10679938" y="158750"/>
                  </a:cubicBezTo>
                  <a:lnTo>
                    <a:pt x="10679938" y="3860038"/>
                  </a:lnTo>
                  <a:cubicBezTo>
                    <a:pt x="10679938" y="3947668"/>
                    <a:pt x="10608311" y="4018788"/>
                    <a:pt x="10519918" y="4018788"/>
                  </a:cubicBezTo>
                  <a:lnTo>
                    <a:pt x="160020" y="4018788"/>
                  </a:lnTo>
                  <a:cubicBezTo>
                    <a:pt x="71628" y="4018788"/>
                    <a:pt x="0" y="3947668"/>
                    <a:pt x="0" y="3860038"/>
                  </a:cubicBezTo>
                  <a:close/>
                </a:path>
              </a:pathLst>
            </a:custGeom>
            <a:solidFill>
              <a:srgbClr val="FAFAFA">
                <a:alpha val="90196"/>
              </a:srgbClr>
            </a:solidFill>
          </p:spPr>
        </p:sp>
        <p:sp>
          <p:nvSpPr>
            <p:cNvPr name="Freeform 27" id="27"/>
            <p:cNvSpPr/>
            <p:nvPr/>
          </p:nvSpPr>
          <p:spPr>
            <a:xfrm flipH="false" flipV="false" rot="0">
              <a:off x="0" y="0"/>
              <a:ext cx="10730738" cy="4069588"/>
            </a:xfrm>
            <a:custGeom>
              <a:avLst/>
              <a:gdLst/>
              <a:ahLst/>
              <a:cxnLst/>
              <a:rect r="r" b="b" t="t" l="l"/>
              <a:pathLst>
                <a:path h="4069588" w="10730738">
                  <a:moveTo>
                    <a:pt x="0" y="184150"/>
                  </a:moveTo>
                  <a:cubicBezTo>
                    <a:pt x="0" y="82296"/>
                    <a:pt x="83185" y="0"/>
                    <a:pt x="185420" y="0"/>
                  </a:cubicBezTo>
                  <a:lnTo>
                    <a:pt x="10545318" y="0"/>
                  </a:lnTo>
                  <a:lnTo>
                    <a:pt x="10545318" y="25400"/>
                  </a:lnTo>
                  <a:lnTo>
                    <a:pt x="10545318" y="0"/>
                  </a:lnTo>
                  <a:cubicBezTo>
                    <a:pt x="10647553" y="0"/>
                    <a:pt x="10730738" y="82296"/>
                    <a:pt x="10730738" y="184150"/>
                  </a:cubicBezTo>
                  <a:lnTo>
                    <a:pt x="10705338" y="184150"/>
                  </a:lnTo>
                  <a:lnTo>
                    <a:pt x="10730738" y="184150"/>
                  </a:lnTo>
                  <a:lnTo>
                    <a:pt x="10730738" y="3885438"/>
                  </a:lnTo>
                  <a:lnTo>
                    <a:pt x="10705338" y="3885438"/>
                  </a:lnTo>
                  <a:lnTo>
                    <a:pt x="10730738" y="3885438"/>
                  </a:lnTo>
                  <a:cubicBezTo>
                    <a:pt x="10730738" y="3987292"/>
                    <a:pt x="10647553" y="4069588"/>
                    <a:pt x="10545318" y="4069588"/>
                  </a:cubicBezTo>
                  <a:lnTo>
                    <a:pt x="10545318" y="4044188"/>
                  </a:lnTo>
                  <a:lnTo>
                    <a:pt x="10545318" y="4069588"/>
                  </a:lnTo>
                  <a:lnTo>
                    <a:pt x="185420" y="4069588"/>
                  </a:lnTo>
                  <a:lnTo>
                    <a:pt x="185420" y="4044188"/>
                  </a:lnTo>
                  <a:lnTo>
                    <a:pt x="185420" y="4069588"/>
                  </a:lnTo>
                  <a:cubicBezTo>
                    <a:pt x="83185" y="4069588"/>
                    <a:pt x="0" y="3987292"/>
                    <a:pt x="0" y="3885438"/>
                  </a:cubicBezTo>
                  <a:lnTo>
                    <a:pt x="0" y="184150"/>
                  </a:lnTo>
                  <a:lnTo>
                    <a:pt x="25400" y="184150"/>
                  </a:lnTo>
                  <a:lnTo>
                    <a:pt x="0" y="184150"/>
                  </a:lnTo>
                  <a:moveTo>
                    <a:pt x="50800" y="184150"/>
                  </a:moveTo>
                  <a:lnTo>
                    <a:pt x="50800" y="3885438"/>
                  </a:lnTo>
                  <a:lnTo>
                    <a:pt x="25400" y="3885438"/>
                  </a:lnTo>
                  <a:lnTo>
                    <a:pt x="50800" y="3885438"/>
                  </a:lnTo>
                  <a:cubicBezTo>
                    <a:pt x="50800" y="3958971"/>
                    <a:pt x="110871" y="4018788"/>
                    <a:pt x="185420" y="4018788"/>
                  </a:cubicBezTo>
                  <a:lnTo>
                    <a:pt x="10545318" y="4018788"/>
                  </a:lnTo>
                  <a:cubicBezTo>
                    <a:pt x="10619867" y="4018788"/>
                    <a:pt x="10679938" y="3958844"/>
                    <a:pt x="10679938" y="3885438"/>
                  </a:cubicBezTo>
                  <a:lnTo>
                    <a:pt x="10679938" y="184150"/>
                  </a:lnTo>
                  <a:cubicBezTo>
                    <a:pt x="10679938" y="110617"/>
                    <a:pt x="10619867" y="50800"/>
                    <a:pt x="10545318" y="50800"/>
                  </a:cubicBezTo>
                  <a:lnTo>
                    <a:pt x="185420" y="50800"/>
                  </a:lnTo>
                  <a:lnTo>
                    <a:pt x="185420" y="25400"/>
                  </a:lnTo>
                  <a:lnTo>
                    <a:pt x="185420" y="50800"/>
                  </a:lnTo>
                  <a:cubicBezTo>
                    <a:pt x="110871" y="50800"/>
                    <a:pt x="50800" y="110744"/>
                    <a:pt x="50800" y="184150"/>
                  </a:cubicBezTo>
                  <a:close/>
                </a:path>
              </a:pathLst>
            </a:custGeom>
            <a:solidFill>
              <a:srgbClr val="BDB8DF"/>
            </a:solidFill>
          </p:spPr>
        </p:sp>
      </p:grpSp>
      <p:grpSp>
        <p:nvGrpSpPr>
          <p:cNvPr name="Group 28" id="28"/>
          <p:cNvGrpSpPr/>
          <p:nvPr/>
        </p:nvGrpSpPr>
        <p:grpSpPr>
          <a:xfrm rot="0">
            <a:off x="1030338" y="6049861"/>
            <a:ext cx="7933734" cy="850554"/>
            <a:chOff x="0" y="0"/>
            <a:chExt cx="10578313" cy="1134072"/>
          </a:xfrm>
        </p:grpSpPr>
        <p:sp>
          <p:nvSpPr>
            <p:cNvPr name="Freeform 29" id="29"/>
            <p:cNvSpPr/>
            <p:nvPr/>
          </p:nvSpPr>
          <p:spPr>
            <a:xfrm flipH="false" flipV="false" rot="0">
              <a:off x="0" y="0"/>
              <a:ext cx="10578211" cy="1133983"/>
            </a:xfrm>
            <a:custGeom>
              <a:avLst/>
              <a:gdLst/>
              <a:ahLst/>
              <a:cxnLst/>
              <a:rect r="r" b="b" t="t" l="l"/>
              <a:pathLst>
                <a:path h="1133983" w="10578211">
                  <a:moveTo>
                    <a:pt x="0" y="97790"/>
                  </a:moveTo>
                  <a:cubicBezTo>
                    <a:pt x="0" y="43815"/>
                    <a:pt x="43815" y="0"/>
                    <a:pt x="97790" y="0"/>
                  </a:cubicBezTo>
                  <a:lnTo>
                    <a:pt x="10480421" y="0"/>
                  </a:lnTo>
                  <a:cubicBezTo>
                    <a:pt x="10534396" y="0"/>
                    <a:pt x="10578211" y="43815"/>
                    <a:pt x="10578211" y="97790"/>
                  </a:cubicBezTo>
                  <a:lnTo>
                    <a:pt x="10578211" y="1036193"/>
                  </a:lnTo>
                  <a:cubicBezTo>
                    <a:pt x="10578211" y="1090168"/>
                    <a:pt x="10534396" y="1133983"/>
                    <a:pt x="10480421" y="1133983"/>
                  </a:cubicBezTo>
                  <a:lnTo>
                    <a:pt x="97790" y="1133983"/>
                  </a:lnTo>
                  <a:cubicBezTo>
                    <a:pt x="43815" y="1133983"/>
                    <a:pt x="0" y="1090168"/>
                    <a:pt x="0" y="1036193"/>
                  </a:cubicBezTo>
                  <a:close/>
                </a:path>
              </a:pathLst>
            </a:custGeom>
            <a:solidFill>
              <a:srgbClr val="E9E6FA"/>
            </a:solidFill>
          </p:spPr>
        </p:sp>
      </p:grpSp>
      <p:sp>
        <p:nvSpPr>
          <p:cNvPr name="TextBox 30" id="30"/>
          <p:cNvSpPr txBox="true"/>
          <p:nvPr/>
        </p:nvSpPr>
        <p:spPr>
          <a:xfrm rot="0">
            <a:off x="4784522" y="6242599"/>
            <a:ext cx="425206" cy="493509"/>
          </a:xfrm>
          <a:prstGeom prst="rect">
            <a:avLst/>
          </a:prstGeom>
        </p:spPr>
        <p:txBody>
          <a:bodyPr anchor="t" rtlCol="false" tIns="0" lIns="0" bIns="0" rIns="0">
            <a:spAutoFit/>
          </a:bodyPr>
          <a:lstStyle/>
          <a:p>
            <a:pPr algn="l">
              <a:lnSpc>
                <a:spcPts val="3312"/>
              </a:lnSpc>
            </a:pPr>
            <a:r>
              <a:rPr lang="en-US" sz="3312" b="true">
                <a:solidFill>
                  <a:srgbClr val="2A2742"/>
                </a:solidFill>
                <a:latin typeface="Arimo Bold"/>
                <a:ea typeface="Arimo Bold"/>
                <a:cs typeface="Arimo Bold"/>
                <a:sym typeface="Arimo Bold"/>
              </a:rPr>
              <a:t>3</a:t>
            </a:r>
          </a:p>
        </p:txBody>
      </p:sp>
      <p:sp>
        <p:nvSpPr>
          <p:cNvPr name="TextBox 31" id="31"/>
          <p:cNvSpPr txBox="true"/>
          <p:nvPr/>
        </p:nvSpPr>
        <p:spPr>
          <a:xfrm rot="0">
            <a:off x="1313859" y="7145836"/>
            <a:ext cx="5190973" cy="481012"/>
          </a:xfrm>
          <a:prstGeom prst="rect">
            <a:avLst/>
          </a:prstGeom>
        </p:spPr>
        <p:txBody>
          <a:bodyPr anchor="t" rtlCol="false" tIns="0" lIns="0" bIns="0" rIns="0">
            <a:spAutoFit/>
          </a:bodyPr>
          <a:lstStyle/>
          <a:p>
            <a:pPr algn="l">
              <a:lnSpc>
                <a:spcPts val="3437"/>
              </a:lnSpc>
            </a:pPr>
            <a:r>
              <a:rPr lang="en-US" sz="2750" b="true">
                <a:solidFill>
                  <a:srgbClr val="2A2742"/>
                </a:solidFill>
                <a:latin typeface="Arimo Bold"/>
                <a:ea typeface="Arimo Bold"/>
                <a:cs typeface="Arimo Bold"/>
                <a:sym typeface="Arimo Bold"/>
              </a:rPr>
              <a:t>Integrate Advanced Algorithms</a:t>
            </a:r>
          </a:p>
        </p:txBody>
      </p:sp>
      <p:sp>
        <p:nvSpPr>
          <p:cNvPr name="TextBox 32" id="32"/>
          <p:cNvSpPr txBox="true"/>
          <p:nvPr/>
        </p:nvSpPr>
        <p:spPr>
          <a:xfrm rot="0">
            <a:off x="1313859" y="7692180"/>
            <a:ext cx="7366692" cy="1012031"/>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Develop and integrate p-DAS and IMAP to aggressively suppress artifacts and sharpen targets.</a:t>
            </a:r>
          </a:p>
        </p:txBody>
      </p:sp>
      <p:grpSp>
        <p:nvGrpSpPr>
          <p:cNvPr name="Group 33" id="33"/>
          <p:cNvGrpSpPr/>
          <p:nvPr/>
        </p:nvGrpSpPr>
        <p:grpSpPr>
          <a:xfrm rot="0">
            <a:off x="9266634" y="5992711"/>
            <a:ext cx="8048177" cy="3052172"/>
            <a:chOff x="0" y="0"/>
            <a:chExt cx="10730903" cy="4069563"/>
          </a:xfrm>
        </p:grpSpPr>
        <p:sp>
          <p:nvSpPr>
            <p:cNvPr name="Freeform 34" id="34"/>
            <p:cNvSpPr/>
            <p:nvPr/>
          </p:nvSpPr>
          <p:spPr>
            <a:xfrm flipH="false" flipV="false" rot="0">
              <a:off x="25400" y="25400"/>
              <a:ext cx="10680064" cy="4018788"/>
            </a:xfrm>
            <a:custGeom>
              <a:avLst/>
              <a:gdLst/>
              <a:ahLst/>
              <a:cxnLst/>
              <a:rect r="r" b="b" t="t" l="l"/>
              <a:pathLst>
                <a:path h="4018788" w="10680064">
                  <a:moveTo>
                    <a:pt x="0" y="158750"/>
                  </a:moveTo>
                  <a:cubicBezTo>
                    <a:pt x="0" y="71120"/>
                    <a:pt x="71628" y="0"/>
                    <a:pt x="160020" y="0"/>
                  </a:cubicBezTo>
                  <a:lnTo>
                    <a:pt x="10520045" y="0"/>
                  </a:lnTo>
                  <a:cubicBezTo>
                    <a:pt x="10608437" y="0"/>
                    <a:pt x="10680064" y="71120"/>
                    <a:pt x="10680064" y="158750"/>
                  </a:cubicBezTo>
                  <a:lnTo>
                    <a:pt x="10680064" y="3860038"/>
                  </a:lnTo>
                  <a:cubicBezTo>
                    <a:pt x="10680064" y="3947668"/>
                    <a:pt x="10608437" y="4018788"/>
                    <a:pt x="10520045" y="4018788"/>
                  </a:cubicBezTo>
                  <a:lnTo>
                    <a:pt x="160020" y="4018788"/>
                  </a:lnTo>
                  <a:cubicBezTo>
                    <a:pt x="71628" y="4018788"/>
                    <a:pt x="0" y="3947668"/>
                    <a:pt x="0" y="3860038"/>
                  </a:cubicBezTo>
                  <a:close/>
                </a:path>
              </a:pathLst>
            </a:custGeom>
            <a:solidFill>
              <a:srgbClr val="FAFAFA">
                <a:alpha val="90196"/>
              </a:srgbClr>
            </a:solidFill>
          </p:spPr>
        </p:sp>
        <p:sp>
          <p:nvSpPr>
            <p:cNvPr name="Freeform 35" id="35"/>
            <p:cNvSpPr/>
            <p:nvPr/>
          </p:nvSpPr>
          <p:spPr>
            <a:xfrm flipH="false" flipV="false" rot="0">
              <a:off x="0" y="0"/>
              <a:ext cx="10730864" cy="4069588"/>
            </a:xfrm>
            <a:custGeom>
              <a:avLst/>
              <a:gdLst/>
              <a:ahLst/>
              <a:cxnLst/>
              <a:rect r="r" b="b" t="t" l="l"/>
              <a:pathLst>
                <a:path h="4069588" w="10730864">
                  <a:moveTo>
                    <a:pt x="0" y="184150"/>
                  </a:moveTo>
                  <a:cubicBezTo>
                    <a:pt x="0" y="82296"/>
                    <a:pt x="83185" y="0"/>
                    <a:pt x="185420" y="0"/>
                  </a:cubicBezTo>
                  <a:lnTo>
                    <a:pt x="10545445" y="0"/>
                  </a:lnTo>
                  <a:lnTo>
                    <a:pt x="10545445" y="25400"/>
                  </a:lnTo>
                  <a:lnTo>
                    <a:pt x="10545445" y="0"/>
                  </a:lnTo>
                  <a:cubicBezTo>
                    <a:pt x="10647680" y="0"/>
                    <a:pt x="10730864" y="82296"/>
                    <a:pt x="10730864" y="184150"/>
                  </a:cubicBezTo>
                  <a:lnTo>
                    <a:pt x="10705464" y="184150"/>
                  </a:lnTo>
                  <a:lnTo>
                    <a:pt x="10730864" y="184150"/>
                  </a:lnTo>
                  <a:lnTo>
                    <a:pt x="10730864" y="3885438"/>
                  </a:lnTo>
                  <a:lnTo>
                    <a:pt x="10705464" y="3885438"/>
                  </a:lnTo>
                  <a:lnTo>
                    <a:pt x="10730864" y="3885438"/>
                  </a:lnTo>
                  <a:cubicBezTo>
                    <a:pt x="10730864" y="3987292"/>
                    <a:pt x="10647680" y="4069588"/>
                    <a:pt x="10545445" y="4069588"/>
                  </a:cubicBezTo>
                  <a:lnTo>
                    <a:pt x="10545445" y="4044188"/>
                  </a:lnTo>
                  <a:lnTo>
                    <a:pt x="10545445" y="4069588"/>
                  </a:lnTo>
                  <a:lnTo>
                    <a:pt x="185420" y="4069588"/>
                  </a:lnTo>
                  <a:lnTo>
                    <a:pt x="185420" y="4044188"/>
                  </a:lnTo>
                  <a:lnTo>
                    <a:pt x="185420" y="4069588"/>
                  </a:lnTo>
                  <a:cubicBezTo>
                    <a:pt x="83185" y="4069588"/>
                    <a:pt x="0" y="3987292"/>
                    <a:pt x="0" y="3885438"/>
                  </a:cubicBezTo>
                  <a:lnTo>
                    <a:pt x="0" y="184150"/>
                  </a:lnTo>
                  <a:lnTo>
                    <a:pt x="25400" y="184150"/>
                  </a:lnTo>
                  <a:lnTo>
                    <a:pt x="0" y="184150"/>
                  </a:lnTo>
                  <a:moveTo>
                    <a:pt x="50800" y="184150"/>
                  </a:moveTo>
                  <a:lnTo>
                    <a:pt x="50800" y="3885438"/>
                  </a:lnTo>
                  <a:lnTo>
                    <a:pt x="25400" y="3885438"/>
                  </a:lnTo>
                  <a:lnTo>
                    <a:pt x="50800" y="3885438"/>
                  </a:lnTo>
                  <a:cubicBezTo>
                    <a:pt x="50800" y="3958971"/>
                    <a:pt x="110871" y="4018788"/>
                    <a:pt x="185420" y="4018788"/>
                  </a:cubicBezTo>
                  <a:lnTo>
                    <a:pt x="10545445" y="4018788"/>
                  </a:lnTo>
                  <a:cubicBezTo>
                    <a:pt x="10619994" y="4018788"/>
                    <a:pt x="10680064" y="3958844"/>
                    <a:pt x="10680064" y="3885438"/>
                  </a:cubicBezTo>
                  <a:lnTo>
                    <a:pt x="10680064" y="184150"/>
                  </a:lnTo>
                  <a:cubicBezTo>
                    <a:pt x="10680064" y="110617"/>
                    <a:pt x="10619994" y="50800"/>
                    <a:pt x="10545445" y="50800"/>
                  </a:cubicBezTo>
                  <a:lnTo>
                    <a:pt x="185420" y="50800"/>
                  </a:lnTo>
                  <a:lnTo>
                    <a:pt x="185420" y="25400"/>
                  </a:lnTo>
                  <a:lnTo>
                    <a:pt x="185420" y="50800"/>
                  </a:lnTo>
                  <a:cubicBezTo>
                    <a:pt x="110871" y="50800"/>
                    <a:pt x="50800" y="110744"/>
                    <a:pt x="50800" y="184150"/>
                  </a:cubicBezTo>
                  <a:close/>
                </a:path>
              </a:pathLst>
            </a:custGeom>
            <a:solidFill>
              <a:srgbClr val="BDB8DF"/>
            </a:solidFill>
          </p:spPr>
        </p:sp>
      </p:grpSp>
      <p:grpSp>
        <p:nvGrpSpPr>
          <p:cNvPr name="Group 36" id="36"/>
          <p:cNvGrpSpPr/>
          <p:nvPr/>
        </p:nvGrpSpPr>
        <p:grpSpPr>
          <a:xfrm rot="0">
            <a:off x="9323784" y="6049861"/>
            <a:ext cx="7933877" cy="850554"/>
            <a:chOff x="0" y="0"/>
            <a:chExt cx="10578503" cy="1134072"/>
          </a:xfrm>
        </p:grpSpPr>
        <p:sp>
          <p:nvSpPr>
            <p:cNvPr name="Freeform 37" id="37"/>
            <p:cNvSpPr/>
            <p:nvPr/>
          </p:nvSpPr>
          <p:spPr>
            <a:xfrm flipH="false" flipV="false" rot="0">
              <a:off x="0" y="0"/>
              <a:ext cx="10578465" cy="1133983"/>
            </a:xfrm>
            <a:custGeom>
              <a:avLst/>
              <a:gdLst/>
              <a:ahLst/>
              <a:cxnLst/>
              <a:rect r="r" b="b" t="t" l="l"/>
              <a:pathLst>
                <a:path h="1133983" w="10578465">
                  <a:moveTo>
                    <a:pt x="0" y="97790"/>
                  </a:moveTo>
                  <a:cubicBezTo>
                    <a:pt x="0" y="43815"/>
                    <a:pt x="43815" y="0"/>
                    <a:pt x="97790" y="0"/>
                  </a:cubicBezTo>
                  <a:lnTo>
                    <a:pt x="10480675" y="0"/>
                  </a:lnTo>
                  <a:cubicBezTo>
                    <a:pt x="10534650" y="0"/>
                    <a:pt x="10578465" y="43815"/>
                    <a:pt x="10578465" y="97790"/>
                  </a:cubicBezTo>
                  <a:lnTo>
                    <a:pt x="10578465" y="1036193"/>
                  </a:lnTo>
                  <a:cubicBezTo>
                    <a:pt x="10578465" y="1090168"/>
                    <a:pt x="10534650" y="1133983"/>
                    <a:pt x="10480675" y="1133983"/>
                  </a:cubicBezTo>
                  <a:lnTo>
                    <a:pt x="97790" y="1133983"/>
                  </a:lnTo>
                  <a:cubicBezTo>
                    <a:pt x="43815" y="1133983"/>
                    <a:pt x="0" y="1090168"/>
                    <a:pt x="0" y="1036193"/>
                  </a:cubicBezTo>
                  <a:close/>
                </a:path>
              </a:pathLst>
            </a:custGeom>
            <a:solidFill>
              <a:srgbClr val="E9E6FA"/>
            </a:solidFill>
          </p:spPr>
        </p:sp>
      </p:grpSp>
      <p:sp>
        <p:nvSpPr>
          <p:cNvPr name="TextBox 38" id="38"/>
          <p:cNvSpPr txBox="true"/>
          <p:nvPr/>
        </p:nvSpPr>
        <p:spPr>
          <a:xfrm rot="0">
            <a:off x="13078120" y="6242599"/>
            <a:ext cx="425206" cy="493509"/>
          </a:xfrm>
          <a:prstGeom prst="rect">
            <a:avLst/>
          </a:prstGeom>
        </p:spPr>
        <p:txBody>
          <a:bodyPr anchor="t" rtlCol="false" tIns="0" lIns="0" bIns="0" rIns="0">
            <a:spAutoFit/>
          </a:bodyPr>
          <a:lstStyle/>
          <a:p>
            <a:pPr algn="l">
              <a:lnSpc>
                <a:spcPts val="3312"/>
              </a:lnSpc>
            </a:pPr>
            <a:r>
              <a:rPr lang="en-US" sz="3312" b="true">
                <a:solidFill>
                  <a:srgbClr val="2A2742"/>
                </a:solidFill>
                <a:latin typeface="Arimo Bold"/>
                <a:ea typeface="Arimo Bold"/>
                <a:cs typeface="Arimo Bold"/>
                <a:sym typeface="Arimo Bold"/>
              </a:rPr>
              <a:t>4</a:t>
            </a:r>
          </a:p>
        </p:txBody>
      </p:sp>
      <p:sp>
        <p:nvSpPr>
          <p:cNvPr name="TextBox 39" id="39"/>
          <p:cNvSpPr txBox="true"/>
          <p:nvPr/>
        </p:nvSpPr>
        <p:spPr>
          <a:xfrm rot="0">
            <a:off x="9607306" y="7145836"/>
            <a:ext cx="4598041" cy="481012"/>
          </a:xfrm>
          <a:prstGeom prst="rect">
            <a:avLst/>
          </a:prstGeom>
        </p:spPr>
        <p:txBody>
          <a:bodyPr anchor="t" rtlCol="false" tIns="0" lIns="0" bIns="0" rIns="0">
            <a:spAutoFit/>
          </a:bodyPr>
          <a:lstStyle/>
          <a:p>
            <a:pPr algn="l">
              <a:lnSpc>
                <a:spcPts val="3437"/>
              </a:lnSpc>
            </a:pPr>
            <a:r>
              <a:rPr lang="en-US" sz="2750" b="true">
                <a:solidFill>
                  <a:srgbClr val="2A2742"/>
                </a:solidFill>
                <a:latin typeface="Arimo Bold"/>
                <a:ea typeface="Arimo Bold"/>
                <a:cs typeface="Arimo Bold"/>
                <a:sym typeface="Arimo Bold"/>
              </a:rPr>
              <a:t>Quantitative Benchmarking</a:t>
            </a:r>
          </a:p>
        </p:txBody>
      </p:sp>
      <p:sp>
        <p:nvSpPr>
          <p:cNvPr name="TextBox 40" id="40"/>
          <p:cNvSpPr txBox="true"/>
          <p:nvPr/>
        </p:nvSpPr>
        <p:spPr>
          <a:xfrm rot="0">
            <a:off x="9607306" y="7692180"/>
            <a:ext cx="7366845" cy="1012031"/>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Evaluate all models using </a:t>
            </a:r>
            <a:r>
              <a:rPr lang="en-US" sz="2187" b="true">
                <a:solidFill>
                  <a:srgbClr val="2A2742"/>
                </a:solidFill>
                <a:latin typeface="Arimo Bold"/>
                <a:ea typeface="Arimo Bold"/>
                <a:cs typeface="Arimo Bold"/>
                <a:sym typeface="Arimo Bold"/>
              </a:rPr>
              <a:t>Contrast-to-Noise Ratio (CNR)</a:t>
            </a:r>
            <a:r>
              <a:rPr lang="en-US" sz="2187">
                <a:solidFill>
                  <a:srgbClr val="2A2742"/>
                </a:solidFill>
                <a:latin typeface="Arimo"/>
                <a:ea typeface="Arimo"/>
                <a:cs typeface="Arimo"/>
                <a:sym typeface="Arimo"/>
              </a:rPr>
              <a:t> and </a:t>
            </a:r>
            <a:r>
              <a:rPr lang="en-US" sz="2187" b="true">
                <a:solidFill>
                  <a:srgbClr val="2A2742"/>
                </a:solidFill>
                <a:latin typeface="Arimo Bold"/>
                <a:ea typeface="Arimo Bold"/>
                <a:cs typeface="Arimo Bold"/>
                <a:sym typeface="Arimo Bold"/>
              </a:rPr>
              <a:t>Full Width at Half Maximum (FWHM)</a:t>
            </a:r>
            <a:r>
              <a:rPr lang="en-US" sz="2187">
                <a:solidFill>
                  <a:srgbClr val="2A2742"/>
                </a:solidFill>
                <a:latin typeface="Arimo"/>
                <a:ea typeface="Arimo"/>
                <a:cs typeface="Arimo"/>
                <a:sym typeface="Arimo"/>
              </a:rPr>
              <a:t>.</a:t>
            </a:r>
          </a:p>
        </p:txBody>
      </p:sp>
      <p:grpSp>
        <p:nvGrpSpPr>
          <p:cNvPr name="Group 41" id="41"/>
          <p:cNvGrpSpPr/>
          <p:nvPr/>
        </p:nvGrpSpPr>
        <p:grpSpPr>
          <a:xfrm rot="0">
            <a:off x="15563850" y="9379744"/>
            <a:ext cx="2724150" cy="907256"/>
            <a:chOff x="0" y="0"/>
            <a:chExt cx="3632200" cy="1209675"/>
          </a:xfrm>
        </p:grpSpPr>
        <p:sp>
          <p:nvSpPr>
            <p:cNvPr name="Freeform 42" id="42"/>
            <p:cNvSpPr/>
            <p:nvPr/>
          </p:nvSpPr>
          <p:spPr>
            <a:xfrm flipH="false" flipV="false" rot="0">
              <a:off x="0" y="0"/>
              <a:ext cx="3632200" cy="1209675"/>
            </a:xfrm>
            <a:custGeom>
              <a:avLst/>
              <a:gdLst/>
              <a:ahLst/>
              <a:cxnLst/>
              <a:rect r="r" b="b" t="t" l="l"/>
              <a:pathLst>
                <a:path h="1209675" w="3632200">
                  <a:moveTo>
                    <a:pt x="0" y="0"/>
                  </a:moveTo>
                  <a:lnTo>
                    <a:pt x="3632200" y="0"/>
                  </a:lnTo>
                  <a:lnTo>
                    <a:pt x="3632200" y="1209675"/>
                  </a:lnTo>
                  <a:lnTo>
                    <a:pt x="0" y="1209675"/>
                  </a:lnTo>
                  <a:close/>
                </a:path>
              </a:pathLst>
            </a:custGeom>
            <a:solidFill>
              <a:srgbClr val="EEEEF4"/>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sp>
        <p:nvSpPr>
          <p:cNvPr name="TextBox 8" id="8"/>
          <p:cNvSpPr txBox="true"/>
          <p:nvPr/>
        </p:nvSpPr>
        <p:spPr>
          <a:xfrm rot="0">
            <a:off x="852783" y="635051"/>
            <a:ext cx="8585149" cy="799509"/>
          </a:xfrm>
          <a:prstGeom prst="rect">
            <a:avLst/>
          </a:prstGeom>
        </p:spPr>
        <p:txBody>
          <a:bodyPr anchor="t" rtlCol="false" tIns="0" lIns="0" bIns="0" rIns="0">
            <a:spAutoFit/>
          </a:bodyPr>
          <a:lstStyle/>
          <a:p>
            <a:pPr algn="l">
              <a:lnSpc>
                <a:spcPts val="5937"/>
              </a:lnSpc>
            </a:pPr>
            <a:r>
              <a:rPr lang="en-US" sz="4750" b="true">
                <a:solidFill>
                  <a:srgbClr val="231971"/>
                </a:solidFill>
                <a:latin typeface="Arimo Bold"/>
                <a:ea typeface="Arimo Bold"/>
                <a:cs typeface="Arimo Bold"/>
                <a:sym typeface="Arimo Bold"/>
              </a:rPr>
              <a:t>The Signal Processing Pipeline</a:t>
            </a:r>
          </a:p>
        </p:txBody>
      </p:sp>
      <p:grpSp>
        <p:nvGrpSpPr>
          <p:cNvPr name="Group 9" id="9"/>
          <p:cNvGrpSpPr/>
          <p:nvPr/>
        </p:nvGrpSpPr>
        <p:grpSpPr>
          <a:xfrm rot="0">
            <a:off x="852783" y="1853203"/>
            <a:ext cx="16582434" cy="7162648"/>
            <a:chOff x="0" y="0"/>
            <a:chExt cx="22109913" cy="9550197"/>
          </a:xfrm>
        </p:grpSpPr>
        <p:sp>
          <p:nvSpPr>
            <p:cNvPr name="Freeform 10" id="10" descr="preencoded.png"/>
            <p:cNvSpPr/>
            <p:nvPr/>
          </p:nvSpPr>
          <p:spPr>
            <a:xfrm flipH="false" flipV="false" rot="0">
              <a:off x="0" y="0"/>
              <a:ext cx="22109937" cy="9550146"/>
            </a:xfrm>
            <a:custGeom>
              <a:avLst/>
              <a:gdLst/>
              <a:ahLst/>
              <a:cxnLst/>
              <a:rect r="r" b="b" t="t" l="l"/>
              <a:pathLst>
                <a:path h="9550146" w="22109937">
                  <a:moveTo>
                    <a:pt x="0" y="0"/>
                  </a:moveTo>
                  <a:lnTo>
                    <a:pt x="22109937" y="0"/>
                  </a:lnTo>
                  <a:lnTo>
                    <a:pt x="22109937" y="9550146"/>
                  </a:lnTo>
                  <a:lnTo>
                    <a:pt x="0" y="9550146"/>
                  </a:lnTo>
                  <a:lnTo>
                    <a:pt x="0" y="0"/>
                  </a:lnTo>
                  <a:close/>
                </a:path>
              </a:pathLst>
            </a:custGeom>
            <a:blipFill>
              <a:blip r:embed="rId6"/>
              <a:stretch>
                <a:fillRect l="0" t="0" r="0" b="0"/>
              </a:stretch>
            </a:blipFill>
          </p:spPr>
        </p:sp>
      </p:grpSp>
      <p:sp>
        <p:nvSpPr>
          <p:cNvPr name="TextBox 11" id="11"/>
          <p:cNvSpPr txBox="true"/>
          <p:nvPr/>
        </p:nvSpPr>
        <p:spPr>
          <a:xfrm rot="0">
            <a:off x="4809801" y="7095601"/>
            <a:ext cx="2462184" cy="477012"/>
          </a:xfrm>
          <a:prstGeom prst="rect">
            <a:avLst/>
          </a:prstGeom>
        </p:spPr>
        <p:txBody>
          <a:bodyPr anchor="t" rtlCol="false" tIns="0" lIns="0" bIns="0" rIns="0">
            <a:spAutoFit/>
          </a:bodyPr>
          <a:lstStyle/>
          <a:p>
            <a:pPr algn="ctr">
              <a:lnSpc>
                <a:spcPts val="3499"/>
              </a:lnSpc>
            </a:pPr>
            <a:r>
              <a:rPr lang="en-US" sz="2812" b="true">
                <a:solidFill>
                  <a:srgbClr val="2A2742"/>
                </a:solidFill>
                <a:latin typeface="Arimo Bold"/>
                <a:ea typeface="Arimo Bold"/>
                <a:cs typeface="Arimo Bold"/>
                <a:sym typeface="Arimo Bold"/>
              </a:rPr>
              <a:t>Demodulation</a:t>
            </a:r>
          </a:p>
        </p:txBody>
      </p:sp>
      <p:sp>
        <p:nvSpPr>
          <p:cNvPr name="TextBox 12" id="12"/>
          <p:cNvSpPr txBox="true"/>
          <p:nvPr/>
        </p:nvSpPr>
        <p:spPr>
          <a:xfrm rot="0">
            <a:off x="4809801" y="7690647"/>
            <a:ext cx="2462184" cy="676208"/>
          </a:xfrm>
          <a:prstGeom prst="rect">
            <a:avLst/>
          </a:prstGeom>
        </p:spPr>
        <p:txBody>
          <a:bodyPr anchor="t" rtlCol="false" tIns="0" lIns="0" bIns="0" rIns="0">
            <a:spAutoFit/>
          </a:bodyPr>
          <a:lstStyle/>
          <a:p>
            <a:pPr algn="ctr">
              <a:lnSpc>
                <a:spcPts val="2624"/>
              </a:lnSpc>
            </a:pPr>
            <a:r>
              <a:rPr lang="en-US" sz="2249">
                <a:solidFill>
                  <a:srgbClr val="2A2742"/>
                </a:solidFill>
                <a:latin typeface="Arimo"/>
                <a:ea typeface="Arimo"/>
                <a:cs typeface="Arimo"/>
                <a:sym typeface="Arimo"/>
              </a:rPr>
              <a:t>Convert RF to complex IQ</a:t>
            </a:r>
          </a:p>
        </p:txBody>
      </p:sp>
      <p:sp>
        <p:nvSpPr>
          <p:cNvPr name="TextBox 13" id="13"/>
          <p:cNvSpPr txBox="true"/>
          <p:nvPr/>
        </p:nvSpPr>
        <p:spPr>
          <a:xfrm rot="0">
            <a:off x="11132048" y="7095601"/>
            <a:ext cx="2462184" cy="477012"/>
          </a:xfrm>
          <a:prstGeom prst="rect">
            <a:avLst/>
          </a:prstGeom>
        </p:spPr>
        <p:txBody>
          <a:bodyPr anchor="t" rtlCol="false" tIns="0" lIns="0" bIns="0" rIns="0">
            <a:spAutoFit/>
          </a:bodyPr>
          <a:lstStyle/>
          <a:p>
            <a:pPr algn="ctr">
              <a:lnSpc>
                <a:spcPts val="3499"/>
              </a:lnSpc>
            </a:pPr>
            <a:r>
              <a:rPr lang="en-US" sz="2812" b="true">
                <a:solidFill>
                  <a:srgbClr val="231971"/>
                </a:solidFill>
                <a:latin typeface="Arimo Bold"/>
                <a:ea typeface="Arimo Bold"/>
                <a:cs typeface="Arimo Bold"/>
                <a:sym typeface="Arimo Bold"/>
              </a:rPr>
              <a:t>Beamforming</a:t>
            </a:r>
          </a:p>
        </p:txBody>
      </p:sp>
      <p:sp>
        <p:nvSpPr>
          <p:cNvPr name="TextBox 14" id="14"/>
          <p:cNvSpPr txBox="true"/>
          <p:nvPr/>
        </p:nvSpPr>
        <p:spPr>
          <a:xfrm rot="0">
            <a:off x="11132048" y="7690647"/>
            <a:ext cx="2462184" cy="676208"/>
          </a:xfrm>
          <a:prstGeom prst="rect">
            <a:avLst/>
          </a:prstGeom>
        </p:spPr>
        <p:txBody>
          <a:bodyPr anchor="t" rtlCol="false" tIns="0" lIns="0" bIns="0" rIns="0">
            <a:spAutoFit/>
          </a:bodyPr>
          <a:lstStyle/>
          <a:p>
            <a:pPr algn="ctr">
              <a:lnSpc>
                <a:spcPts val="2624"/>
              </a:lnSpc>
            </a:pPr>
            <a:r>
              <a:rPr lang="en-US" sz="2249">
                <a:solidFill>
                  <a:srgbClr val="2A2742"/>
                </a:solidFill>
                <a:latin typeface="Arimo"/>
                <a:ea typeface="Arimo"/>
                <a:cs typeface="Arimo"/>
                <a:sym typeface="Arimo"/>
              </a:rPr>
              <a:t>DAS / p-DAS / iMAP combination</a:t>
            </a:r>
          </a:p>
        </p:txBody>
      </p:sp>
      <p:sp>
        <p:nvSpPr>
          <p:cNvPr name="TextBox 15" id="15"/>
          <p:cNvSpPr txBox="true"/>
          <p:nvPr/>
        </p:nvSpPr>
        <p:spPr>
          <a:xfrm rot="0">
            <a:off x="1656521" y="2470947"/>
            <a:ext cx="2462184" cy="477012"/>
          </a:xfrm>
          <a:prstGeom prst="rect">
            <a:avLst/>
          </a:prstGeom>
        </p:spPr>
        <p:txBody>
          <a:bodyPr anchor="t" rtlCol="false" tIns="0" lIns="0" bIns="0" rIns="0">
            <a:spAutoFit/>
          </a:bodyPr>
          <a:lstStyle/>
          <a:p>
            <a:pPr algn="ctr">
              <a:lnSpc>
                <a:spcPts val="3499"/>
              </a:lnSpc>
            </a:pPr>
            <a:r>
              <a:rPr lang="en-US" sz="2812" b="true">
                <a:solidFill>
                  <a:srgbClr val="2A2742"/>
                </a:solidFill>
                <a:latin typeface="Arimo Bold"/>
                <a:ea typeface="Arimo Bold"/>
                <a:cs typeface="Arimo Bold"/>
                <a:sym typeface="Arimo Bold"/>
              </a:rPr>
              <a:t>Raw RF Data</a:t>
            </a:r>
          </a:p>
        </p:txBody>
      </p:sp>
      <p:sp>
        <p:nvSpPr>
          <p:cNvPr name="TextBox 16" id="16"/>
          <p:cNvSpPr txBox="true"/>
          <p:nvPr/>
        </p:nvSpPr>
        <p:spPr>
          <a:xfrm rot="0">
            <a:off x="1656521" y="3065993"/>
            <a:ext cx="2462184" cy="676208"/>
          </a:xfrm>
          <a:prstGeom prst="rect">
            <a:avLst/>
          </a:prstGeom>
        </p:spPr>
        <p:txBody>
          <a:bodyPr anchor="t" rtlCol="false" tIns="0" lIns="0" bIns="0" rIns="0">
            <a:spAutoFit/>
          </a:bodyPr>
          <a:lstStyle/>
          <a:p>
            <a:pPr algn="ctr">
              <a:lnSpc>
                <a:spcPts val="2624"/>
              </a:lnSpc>
            </a:pPr>
            <a:r>
              <a:rPr lang="en-US" sz="2249">
                <a:solidFill>
                  <a:srgbClr val="2A2742"/>
                </a:solidFill>
                <a:latin typeface="Arimo"/>
                <a:ea typeface="Arimo"/>
                <a:cs typeface="Arimo"/>
                <a:sym typeface="Arimo"/>
              </a:rPr>
              <a:t>Acquire raw oscillatory signals</a:t>
            </a:r>
          </a:p>
        </p:txBody>
      </p:sp>
      <p:sp>
        <p:nvSpPr>
          <p:cNvPr name="TextBox 17" id="17"/>
          <p:cNvSpPr txBox="true"/>
          <p:nvPr/>
        </p:nvSpPr>
        <p:spPr>
          <a:xfrm rot="0">
            <a:off x="14191402" y="2470947"/>
            <a:ext cx="2462184" cy="477012"/>
          </a:xfrm>
          <a:prstGeom prst="rect">
            <a:avLst/>
          </a:prstGeom>
        </p:spPr>
        <p:txBody>
          <a:bodyPr anchor="t" rtlCol="false" tIns="0" lIns="0" bIns="0" rIns="0">
            <a:spAutoFit/>
          </a:bodyPr>
          <a:lstStyle/>
          <a:p>
            <a:pPr algn="ctr">
              <a:lnSpc>
                <a:spcPts val="3499"/>
              </a:lnSpc>
            </a:pPr>
            <a:r>
              <a:rPr lang="en-US" sz="2812" b="true">
                <a:solidFill>
                  <a:srgbClr val="2A2742"/>
                </a:solidFill>
                <a:latin typeface="Arimo Bold"/>
                <a:ea typeface="Arimo Bold"/>
                <a:cs typeface="Arimo Bold"/>
                <a:sym typeface="Arimo Bold"/>
              </a:rPr>
              <a:t>Envelope</a:t>
            </a:r>
          </a:p>
        </p:txBody>
      </p:sp>
      <p:sp>
        <p:nvSpPr>
          <p:cNvPr name="TextBox 18" id="18"/>
          <p:cNvSpPr txBox="true"/>
          <p:nvPr/>
        </p:nvSpPr>
        <p:spPr>
          <a:xfrm rot="0">
            <a:off x="14191402" y="3065993"/>
            <a:ext cx="2462184" cy="676208"/>
          </a:xfrm>
          <a:prstGeom prst="rect">
            <a:avLst/>
          </a:prstGeom>
        </p:spPr>
        <p:txBody>
          <a:bodyPr anchor="t" rtlCol="false" tIns="0" lIns="0" bIns="0" rIns="0">
            <a:spAutoFit/>
          </a:bodyPr>
          <a:lstStyle/>
          <a:p>
            <a:pPr algn="ctr">
              <a:lnSpc>
                <a:spcPts val="2624"/>
              </a:lnSpc>
            </a:pPr>
            <a:r>
              <a:rPr lang="en-US" sz="2249">
                <a:solidFill>
                  <a:srgbClr val="2A2742"/>
                </a:solidFill>
                <a:latin typeface="Arimo"/>
                <a:ea typeface="Arimo"/>
                <a:cs typeface="Arimo"/>
                <a:sym typeface="Arimo"/>
              </a:rPr>
              <a:t>Detect signal amplitude</a:t>
            </a:r>
          </a:p>
        </p:txBody>
      </p:sp>
      <p:sp>
        <p:nvSpPr>
          <p:cNvPr name="TextBox 19" id="19"/>
          <p:cNvSpPr txBox="true"/>
          <p:nvPr/>
        </p:nvSpPr>
        <p:spPr>
          <a:xfrm rot="0">
            <a:off x="8010163" y="2470947"/>
            <a:ext cx="2462184" cy="925449"/>
          </a:xfrm>
          <a:prstGeom prst="rect">
            <a:avLst/>
          </a:prstGeom>
        </p:spPr>
        <p:txBody>
          <a:bodyPr anchor="t" rtlCol="false" tIns="0" lIns="0" bIns="0" rIns="0">
            <a:spAutoFit/>
          </a:bodyPr>
          <a:lstStyle/>
          <a:p>
            <a:pPr algn="ctr">
              <a:lnSpc>
                <a:spcPts val="3499"/>
              </a:lnSpc>
            </a:pPr>
            <a:r>
              <a:rPr lang="en-US" sz="2812" b="true">
                <a:solidFill>
                  <a:srgbClr val="231971"/>
                </a:solidFill>
                <a:latin typeface="Arimo Bold"/>
                <a:ea typeface="Arimo Bold"/>
                <a:cs typeface="Arimo Bold"/>
                <a:sym typeface="Arimo Bold"/>
              </a:rPr>
              <a:t>Delay &amp; Rephase</a:t>
            </a:r>
          </a:p>
        </p:txBody>
      </p:sp>
      <p:sp>
        <p:nvSpPr>
          <p:cNvPr name="TextBox 20" id="20"/>
          <p:cNvSpPr txBox="true"/>
          <p:nvPr/>
        </p:nvSpPr>
        <p:spPr>
          <a:xfrm rot="0">
            <a:off x="8010163" y="3514430"/>
            <a:ext cx="2462184" cy="676208"/>
          </a:xfrm>
          <a:prstGeom prst="rect">
            <a:avLst/>
          </a:prstGeom>
        </p:spPr>
        <p:txBody>
          <a:bodyPr anchor="t" rtlCol="false" tIns="0" lIns="0" bIns="0" rIns="0">
            <a:spAutoFit/>
          </a:bodyPr>
          <a:lstStyle/>
          <a:p>
            <a:pPr algn="ctr">
              <a:lnSpc>
                <a:spcPts val="2624"/>
              </a:lnSpc>
            </a:pPr>
            <a:r>
              <a:rPr lang="en-US" sz="2249">
                <a:solidFill>
                  <a:srgbClr val="2A2742"/>
                </a:solidFill>
                <a:latin typeface="Arimo"/>
                <a:ea typeface="Arimo"/>
                <a:cs typeface="Arimo"/>
                <a:sym typeface="Arimo"/>
              </a:rPr>
              <a:t>Compute delays and align signals</a:t>
            </a:r>
          </a:p>
        </p:txBody>
      </p:sp>
      <p:sp>
        <p:nvSpPr>
          <p:cNvPr name="TextBox 21" id="21"/>
          <p:cNvSpPr txBox="true"/>
          <p:nvPr/>
        </p:nvSpPr>
        <p:spPr>
          <a:xfrm rot="0">
            <a:off x="852783" y="9165584"/>
            <a:ext cx="16582434" cy="448123"/>
          </a:xfrm>
          <a:prstGeom prst="rect">
            <a:avLst/>
          </a:prstGeom>
        </p:spPr>
        <p:txBody>
          <a:bodyPr anchor="t" rtlCol="false" tIns="0" lIns="0" bIns="0" rIns="0">
            <a:spAutoFit/>
          </a:bodyPr>
          <a:lstStyle/>
          <a:p>
            <a:pPr algn="l">
              <a:lnSpc>
                <a:spcPts val="2812"/>
              </a:lnSpc>
            </a:pPr>
            <a:r>
              <a:rPr lang="en-US" sz="1874">
                <a:solidFill>
                  <a:srgbClr val="2A2742"/>
                </a:solidFill>
                <a:latin typeface="Arimo"/>
                <a:ea typeface="Arimo"/>
                <a:cs typeface="Arimo"/>
                <a:sym typeface="Arimo"/>
              </a:rPr>
              <a:t>Each stage progressively refines the signal — from raw oscillations to a focused, contrast-adjusted grayscale image ready for clinical interpretation.</a:t>
            </a:r>
          </a:p>
        </p:txBody>
      </p:sp>
      <p:grpSp>
        <p:nvGrpSpPr>
          <p:cNvPr name="Group 22" id="22"/>
          <p:cNvGrpSpPr/>
          <p:nvPr/>
        </p:nvGrpSpPr>
        <p:grpSpPr>
          <a:xfrm rot="0">
            <a:off x="15849600" y="9662170"/>
            <a:ext cx="2438400" cy="624830"/>
            <a:chOff x="0" y="0"/>
            <a:chExt cx="3251200" cy="833107"/>
          </a:xfrm>
        </p:grpSpPr>
        <p:sp>
          <p:nvSpPr>
            <p:cNvPr name="Freeform 23" id="23"/>
            <p:cNvSpPr/>
            <p:nvPr/>
          </p:nvSpPr>
          <p:spPr>
            <a:xfrm flipH="false" flipV="false" rot="0">
              <a:off x="0" y="0"/>
              <a:ext cx="3251200" cy="833120"/>
            </a:xfrm>
            <a:custGeom>
              <a:avLst/>
              <a:gdLst/>
              <a:ahLst/>
              <a:cxnLst/>
              <a:rect r="r" b="b" t="t" l="l"/>
              <a:pathLst>
                <a:path h="833120" w="3251200">
                  <a:moveTo>
                    <a:pt x="0" y="0"/>
                  </a:moveTo>
                  <a:lnTo>
                    <a:pt x="3251200" y="0"/>
                  </a:lnTo>
                  <a:lnTo>
                    <a:pt x="3251200" y="833120"/>
                  </a:lnTo>
                  <a:lnTo>
                    <a:pt x="0" y="833120"/>
                  </a:lnTo>
                  <a:close/>
                </a:path>
              </a:pathLst>
            </a:custGeom>
            <a:solidFill>
              <a:srgbClr val="EEEEF4"/>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sp>
        <p:nvSpPr>
          <p:cNvPr name="TextBox 8" id="8"/>
          <p:cNvSpPr txBox="true"/>
          <p:nvPr/>
        </p:nvSpPr>
        <p:spPr>
          <a:xfrm rot="0">
            <a:off x="1348978" y="655434"/>
            <a:ext cx="10961189" cy="743988"/>
          </a:xfrm>
          <a:prstGeom prst="rect">
            <a:avLst/>
          </a:prstGeom>
        </p:spPr>
        <p:txBody>
          <a:bodyPr anchor="t" rtlCol="false" tIns="0" lIns="0" bIns="0" rIns="0">
            <a:spAutoFit/>
          </a:bodyPr>
          <a:lstStyle/>
          <a:p>
            <a:pPr algn="l">
              <a:lnSpc>
                <a:spcPts val="5500"/>
              </a:lnSpc>
            </a:pPr>
            <a:r>
              <a:rPr lang="en-US" sz="4437" b="true">
                <a:solidFill>
                  <a:srgbClr val="231971"/>
                </a:solidFill>
                <a:latin typeface="Arimo Bold"/>
                <a:ea typeface="Arimo Bold"/>
                <a:cs typeface="Arimo Bold"/>
                <a:sym typeface="Arimo Bold"/>
              </a:rPr>
              <a:t>Baseline: Standard Delay-and-Sum (DAS)</a:t>
            </a:r>
          </a:p>
        </p:txBody>
      </p:sp>
      <p:sp>
        <p:nvSpPr>
          <p:cNvPr name="TextBox 9" id="9"/>
          <p:cNvSpPr txBox="true"/>
          <p:nvPr/>
        </p:nvSpPr>
        <p:spPr>
          <a:xfrm rot="0">
            <a:off x="1348978" y="2828487"/>
            <a:ext cx="2824162" cy="381591"/>
          </a:xfrm>
          <a:prstGeom prst="rect">
            <a:avLst/>
          </a:prstGeom>
        </p:spPr>
        <p:txBody>
          <a:bodyPr anchor="t" rtlCol="false" tIns="0" lIns="0" bIns="0" rIns="0">
            <a:spAutoFit/>
          </a:bodyPr>
          <a:lstStyle/>
          <a:p>
            <a:pPr algn="l">
              <a:lnSpc>
                <a:spcPts val="2750"/>
              </a:lnSpc>
            </a:pPr>
            <a:r>
              <a:rPr lang="en-US" sz="2187" b="true">
                <a:solidFill>
                  <a:srgbClr val="231971"/>
                </a:solidFill>
                <a:latin typeface="Arimo Bold"/>
                <a:ea typeface="Arimo Bold"/>
                <a:cs typeface="Arimo Bold"/>
                <a:sym typeface="Arimo Bold"/>
              </a:rPr>
              <a:t>Mechanism</a:t>
            </a:r>
          </a:p>
        </p:txBody>
      </p:sp>
      <p:sp>
        <p:nvSpPr>
          <p:cNvPr name="TextBox 10" id="10"/>
          <p:cNvSpPr txBox="true"/>
          <p:nvPr/>
        </p:nvSpPr>
        <p:spPr>
          <a:xfrm rot="0">
            <a:off x="1348978" y="3271376"/>
            <a:ext cx="7519245" cy="1201511"/>
          </a:xfrm>
          <a:prstGeom prst="rect">
            <a:avLst/>
          </a:prstGeom>
        </p:spPr>
        <p:txBody>
          <a:bodyPr anchor="t" rtlCol="false" tIns="0" lIns="0" bIns="0" rIns="0">
            <a:spAutoFit/>
          </a:bodyPr>
          <a:lstStyle/>
          <a:p>
            <a:pPr algn="l">
              <a:lnSpc>
                <a:spcPts val="3214"/>
              </a:lnSpc>
            </a:pPr>
            <a:r>
              <a:rPr lang="en-US" sz="2249">
                <a:solidFill>
                  <a:srgbClr val="2A2742"/>
                </a:solidFill>
                <a:latin typeface="Arimo"/>
                <a:ea typeface="Arimo"/>
                <a:cs typeface="Arimo"/>
                <a:sym typeface="Arimo"/>
              </a:rPr>
              <a:t>DAS calculates time-of-flight delays to align echoes arriving at each of the 128 probe elements, then sums them coherently to form each image pixel.</a:t>
            </a:r>
          </a:p>
        </p:txBody>
      </p:sp>
      <p:sp>
        <p:nvSpPr>
          <p:cNvPr name="TextBox 11" id="11"/>
          <p:cNvSpPr txBox="true"/>
          <p:nvPr/>
        </p:nvSpPr>
        <p:spPr>
          <a:xfrm rot="0">
            <a:off x="1348978" y="4938417"/>
            <a:ext cx="2824162" cy="381591"/>
          </a:xfrm>
          <a:prstGeom prst="rect">
            <a:avLst/>
          </a:prstGeom>
        </p:spPr>
        <p:txBody>
          <a:bodyPr anchor="t" rtlCol="false" tIns="0" lIns="0" bIns="0" rIns="0">
            <a:spAutoFit/>
          </a:bodyPr>
          <a:lstStyle/>
          <a:p>
            <a:pPr algn="l">
              <a:lnSpc>
                <a:spcPts val="2750"/>
              </a:lnSpc>
            </a:pPr>
            <a:r>
              <a:rPr lang="en-US" sz="2187" b="true">
                <a:solidFill>
                  <a:srgbClr val="231971"/>
                </a:solidFill>
                <a:latin typeface="Arimo Bold"/>
                <a:ea typeface="Arimo Bold"/>
                <a:cs typeface="Arimo Bold"/>
                <a:sym typeface="Arimo Bold"/>
              </a:rPr>
              <a:t>Strengths</a:t>
            </a:r>
          </a:p>
        </p:txBody>
      </p:sp>
      <p:sp>
        <p:nvSpPr>
          <p:cNvPr name="TextBox 12" id="12"/>
          <p:cNvSpPr txBox="true"/>
          <p:nvPr/>
        </p:nvSpPr>
        <p:spPr>
          <a:xfrm rot="0">
            <a:off x="1348978" y="5416039"/>
            <a:ext cx="7519245" cy="801461"/>
          </a:xfrm>
          <a:prstGeom prst="rect">
            <a:avLst/>
          </a:prstGeom>
        </p:spPr>
        <p:txBody>
          <a:bodyPr anchor="t" rtlCol="false" tIns="0" lIns="0" bIns="0" rIns="0">
            <a:spAutoFit/>
          </a:bodyPr>
          <a:lstStyle/>
          <a:p>
            <a:pPr algn="l">
              <a:lnSpc>
                <a:spcPts val="3214"/>
              </a:lnSpc>
            </a:pPr>
            <a:r>
              <a:rPr lang="en-US" sz="2249">
                <a:solidFill>
                  <a:srgbClr val="2A2742"/>
                </a:solidFill>
                <a:latin typeface="Arimo"/>
                <a:ea typeface="Arimo"/>
                <a:cs typeface="Arimo"/>
                <a:sym typeface="Arimo"/>
              </a:rPr>
              <a:t>Computationally simple, real-time capable, and the industry-standard baseline for all comparisons.</a:t>
            </a:r>
          </a:p>
        </p:txBody>
      </p:sp>
      <p:sp>
        <p:nvSpPr>
          <p:cNvPr name="TextBox 13" id="13"/>
          <p:cNvSpPr txBox="true"/>
          <p:nvPr/>
        </p:nvSpPr>
        <p:spPr>
          <a:xfrm rot="0">
            <a:off x="1348978" y="6721986"/>
            <a:ext cx="2824162" cy="381591"/>
          </a:xfrm>
          <a:prstGeom prst="rect">
            <a:avLst/>
          </a:prstGeom>
        </p:spPr>
        <p:txBody>
          <a:bodyPr anchor="t" rtlCol="false" tIns="0" lIns="0" bIns="0" rIns="0">
            <a:spAutoFit/>
          </a:bodyPr>
          <a:lstStyle/>
          <a:p>
            <a:pPr algn="l">
              <a:lnSpc>
                <a:spcPts val="2750"/>
              </a:lnSpc>
            </a:pPr>
            <a:r>
              <a:rPr lang="en-US" sz="2187" b="true">
                <a:solidFill>
                  <a:srgbClr val="231971"/>
                </a:solidFill>
                <a:latin typeface="Arimo Bold"/>
                <a:ea typeface="Arimo Bold"/>
                <a:cs typeface="Arimo Bold"/>
                <a:sym typeface="Arimo Bold"/>
              </a:rPr>
              <a:t>Limitations</a:t>
            </a:r>
          </a:p>
        </p:txBody>
      </p:sp>
      <p:sp>
        <p:nvSpPr>
          <p:cNvPr name="TextBox 14" id="14"/>
          <p:cNvSpPr txBox="true"/>
          <p:nvPr/>
        </p:nvSpPr>
        <p:spPr>
          <a:xfrm rot="0">
            <a:off x="1348978" y="7160653"/>
            <a:ext cx="7519245" cy="1201511"/>
          </a:xfrm>
          <a:prstGeom prst="rect">
            <a:avLst/>
          </a:prstGeom>
        </p:spPr>
        <p:txBody>
          <a:bodyPr anchor="t" rtlCol="false" tIns="0" lIns="0" bIns="0" rIns="0">
            <a:spAutoFit/>
          </a:bodyPr>
          <a:lstStyle/>
          <a:p>
            <a:pPr algn="l">
              <a:lnSpc>
                <a:spcPts val="3214"/>
              </a:lnSpc>
            </a:pPr>
            <a:r>
              <a:rPr lang="en-US" sz="2249">
                <a:solidFill>
                  <a:srgbClr val="2A2742"/>
                </a:solidFill>
                <a:latin typeface="Arimo"/>
                <a:ea typeface="Arimo"/>
                <a:cs typeface="Arimo"/>
                <a:sym typeface="Arimo"/>
              </a:rPr>
              <a:t>Low spatial resolution (broad main lobes) and high side lobes cause targets to appear </a:t>
            </a:r>
            <a:r>
              <a:rPr lang="en-US" sz="2249" b="true">
                <a:solidFill>
                  <a:srgbClr val="2A2742"/>
                </a:solidFill>
                <a:latin typeface="Arimo Bold"/>
                <a:ea typeface="Arimo Bold"/>
                <a:cs typeface="Arimo Bold"/>
                <a:sym typeface="Arimo Bold"/>
              </a:rPr>
              <a:t>stretched and surrounded by haze</a:t>
            </a:r>
            <a:r>
              <a:rPr lang="en-US" sz="2249">
                <a:solidFill>
                  <a:srgbClr val="2A2742"/>
                </a:solidFill>
                <a:latin typeface="Arimo"/>
                <a:ea typeface="Arimo"/>
                <a:cs typeface="Arimo"/>
                <a:sym typeface="Arimo"/>
              </a:rPr>
              <a:t>.</a:t>
            </a:r>
          </a:p>
        </p:txBody>
      </p:sp>
      <p:grpSp>
        <p:nvGrpSpPr>
          <p:cNvPr name="Group 15" id="15"/>
          <p:cNvGrpSpPr/>
          <p:nvPr/>
        </p:nvGrpSpPr>
        <p:grpSpPr>
          <a:xfrm rot="0">
            <a:off x="9429007" y="1871815"/>
            <a:ext cx="7519245" cy="7519245"/>
            <a:chOff x="0" y="0"/>
            <a:chExt cx="10025659" cy="10025659"/>
          </a:xfrm>
        </p:grpSpPr>
        <p:sp>
          <p:nvSpPr>
            <p:cNvPr name="Freeform 16" id="16" descr="preencoded.png"/>
            <p:cNvSpPr/>
            <p:nvPr/>
          </p:nvSpPr>
          <p:spPr>
            <a:xfrm flipH="false" flipV="false" rot="0">
              <a:off x="0" y="0"/>
              <a:ext cx="10025634" cy="10025634"/>
            </a:xfrm>
            <a:custGeom>
              <a:avLst/>
              <a:gdLst/>
              <a:ahLst/>
              <a:cxnLst/>
              <a:rect r="r" b="b" t="t" l="l"/>
              <a:pathLst>
                <a:path h="10025634" w="10025634">
                  <a:moveTo>
                    <a:pt x="0" y="0"/>
                  </a:moveTo>
                  <a:lnTo>
                    <a:pt x="10025634" y="0"/>
                  </a:lnTo>
                  <a:lnTo>
                    <a:pt x="10025634" y="10025634"/>
                  </a:lnTo>
                  <a:lnTo>
                    <a:pt x="0" y="10025634"/>
                  </a:lnTo>
                  <a:lnTo>
                    <a:pt x="0" y="0"/>
                  </a:lnTo>
                  <a:close/>
                </a:path>
              </a:pathLst>
            </a:custGeom>
            <a:blipFill>
              <a:blip r:embed="rId6"/>
              <a:stretch>
                <a:fillRect l="0" t="0" r="0" b="0"/>
              </a:stretch>
            </a:blipFill>
          </p:spPr>
        </p:sp>
      </p:grpSp>
      <p:grpSp>
        <p:nvGrpSpPr>
          <p:cNvPr name="Group 17" id="17"/>
          <p:cNvGrpSpPr/>
          <p:nvPr/>
        </p:nvGrpSpPr>
        <p:grpSpPr>
          <a:xfrm rot="0">
            <a:off x="9429007" y="1871815"/>
            <a:ext cx="7519245" cy="7519245"/>
            <a:chOff x="0" y="0"/>
            <a:chExt cx="10025659" cy="10025659"/>
          </a:xfrm>
        </p:grpSpPr>
        <p:sp>
          <p:nvSpPr>
            <p:cNvPr name="Freeform 18" id="18" descr="preencoded.png"/>
            <p:cNvSpPr/>
            <p:nvPr/>
          </p:nvSpPr>
          <p:spPr>
            <a:xfrm flipH="false" flipV="false" rot="0">
              <a:off x="0" y="0"/>
              <a:ext cx="10025634" cy="10025634"/>
            </a:xfrm>
            <a:custGeom>
              <a:avLst/>
              <a:gdLst/>
              <a:ahLst/>
              <a:cxnLst/>
              <a:rect r="r" b="b" t="t" l="l"/>
              <a:pathLst>
                <a:path h="10025634" w="10025634">
                  <a:moveTo>
                    <a:pt x="0" y="0"/>
                  </a:moveTo>
                  <a:lnTo>
                    <a:pt x="10025634" y="0"/>
                  </a:lnTo>
                  <a:lnTo>
                    <a:pt x="10025634" y="10025634"/>
                  </a:lnTo>
                  <a:lnTo>
                    <a:pt x="0" y="10025634"/>
                  </a:lnTo>
                  <a:lnTo>
                    <a:pt x="0" y="0"/>
                  </a:lnTo>
                  <a:close/>
                </a:path>
              </a:pathLst>
            </a:custGeom>
            <a:blipFill>
              <a:blip r:embed="rId7"/>
              <a:stretch>
                <a:fillRect l="0" t="0" r="0" b="0"/>
              </a:stretch>
            </a:blipFill>
          </p:spPr>
        </p:sp>
      </p:grpSp>
      <p:grpSp>
        <p:nvGrpSpPr>
          <p:cNvPr name="Group 19" id="19"/>
          <p:cNvGrpSpPr/>
          <p:nvPr/>
        </p:nvGrpSpPr>
        <p:grpSpPr>
          <a:xfrm rot="0">
            <a:off x="15563850" y="9379744"/>
            <a:ext cx="2724150" cy="907256"/>
            <a:chOff x="0" y="0"/>
            <a:chExt cx="3632200" cy="1209675"/>
          </a:xfrm>
        </p:grpSpPr>
        <p:sp>
          <p:nvSpPr>
            <p:cNvPr name="Freeform 20" id="20"/>
            <p:cNvSpPr/>
            <p:nvPr/>
          </p:nvSpPr>
          <p:spPr>
            <a:xfrm flipH="false" flipV="false" rot="0">
              <a:off x="0" y="0"/>
              <a:ext cx="3632200" cy="1209675"/>
            </a:xfrm>
            <a:custGeom>
              <a:avLst/>
              <a:gdLst/>
              <a:ahLst/>
              <a:cxnLst/>
              <a:rect r="r" b="b" t="t" l="l"/>
              <a:pathLst>
                <a:path h="1209675" w="3632200">
                  <a:moveTo>
                    <a:pt x="0" y="0"/>
                  </a:moveTo>
                  <a:lnTo>
                    <a:pt x="3632200" y="0"/>
                  </a:lnTo>
                  <a:lnTo>
                    <a:pt x="3632200" y="1209675"/>
                  </a:lnTo>
                  <a:lnTo>
                    <a:pt x="0" y="1209675"/>
                  </a:lnTo>
                  <a:close/>
                </a:path>
              </a:pathLst>
            </a:custGeom>
            <a:solidFill>
              <a:srgbClr val="EEEEF4"/>
            </a:solid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987476" y="1433405"/>
            <a:ext cx="8019459" cy="8253520"/>
            <a:chOff x="0" y="0"/>
            <a:chExt cx="10692613" cy="11004693"/>
          </a:xfrm>
        </p:grpSpPr>
        <p:sp>
          <p:nvSpPr>
            <p:cNvPr name="Freeform 9" id="9"/>
            <p:cNvSpPr/>
            <p:nvPr/>
          </p:nvSpPr>
          <p:spPr>
            <a:xfrm flipH="false" flipV="false" rot="0">
              <a:off x="6350" y="15074"/>
              <a:ext cx="10679811" cy="10974363"/>
            </a:xfrm>
            <a:custGeom>
              <a:avLst/>
              <a:gdLst/>
              <a:ahLst/>
              <a:cxnLst/>
              <a:rect r="r" b="b" t="t" l="l"/>
              <a:pathLst>
                <a:path h="10974363" w="10679811">
                  <a:moveTo>
                    <a:pt x="0" y="376857"/>
                  </a:moveTo>
                  <a:cubicBezTo>
                    <a:pt x="0" y="168832"/>
                    <a:pt x="71247" y="0"/>
                    <a:pt x="159004" y="0"/>
                  </a:cubicBezTo>
                  <a:lnTo>
                    <a:pt x="10520807" y="0"/>
                  </a:lnTo>
                  <a:cubicBezTo>
                    <a:pt x="10608690" y="0"/>
                    <a:pt x="10679811" y="168832"/>
                    <a:pt x="10679811" y="376857"/>
                  </a:cubicBezTo>
                  <a:lnTo>
                    <a:pt x="10679811" y="10597508"/>
                  </a:lnTo>
                  <a:cubicBezTo>
                    <a:pt x="10679811" y="10805834"/>
                    <a:pt x="10608563" y="10974364"/>
                    <a:pt x="10520807" y="10974364"/>
                  </a:cubicBezTo>
                  <a:lnTo>
                    <a:pt x="159004" y="10974364"/>
                  </a:lnTo>
                  <a:cubicBezTo>
                    <a:pt x="71120" y="10974364"/>
                    <a:pt x="0" y="10805532"/>
                    <a:pt x="0" y="10597508"/>
                  </a:cubicBezTo>
                  <a:close/>
                </a:path>
              </a:pathLst>
            </a:custGeom>
            <a:solidFill>
              <a:srgbClr val="E9E6FA"/>
            </a:solidFill>
          </p:spPr>
        </p:sp>
        <p:sp>
          <p:nvSpPr>
            <p:cNvPr name="Freeform 10" id="10"/>
            <p:cNvSpPr/>
            <p:nvPr/>
          </p:nvSpPr>
          <p:spPr>
            <a:xfrm flipH="false" flipV="false" rot="0">
              <a:off x="0" y="0"/>
              <a:ext cx="10692511" cy="11004512"/>
            </a:xfrm>
            <a:custGeom>
              <a:avLst/>
              <a:gdLst/>
              <a:ahLst/>
              <a:cxnLst/>
              <a:rect r="r" b="b" t="t" l="l"/>
              <a:pathLst>
                <a:path h="11004512" w="10692511">
                  <a:moveTo>
                    <a:pt x="0" y="391931"/>
                  </a:moveTo>
                  <a:cubicBezTo>
                    <a:pt x="0" y="175464"/>
                    <a:pt x="74041" y="0"/>
                    <a:pt x="165354" y="0"/>
                  </a:cubicBezTo>
                  <a:lnTo>
                    <a:pt x="10527157" y="0"/>
                  </a:lnTo>
                  <a:lnTo>
                    <a:pt x="10527157" y="15074"/>
                  </a:lnTo>
                  <a:lnTo>
                    <a:pt x="10527157" y="0"/>
                  </a:lnTo>
                  <a:cubicBezTo>
                    <a:pt x="10618470" y="0"/>
                    <a:pt x="10692511" y="175464"/>
                    <a:pt x="10692511" y="391931"/>
                  </a:cubicBezTo>
                  <a:lnTo>
                    <a:pt x="10686161" y="391931"/>
                  </a:lnTo>
                  <a:lnTo>
                    <a:pt x="10692511" y="391931"/>
                  </a:lnTo>
                  <a:lnTo>
                    <a:pt x="10692511" y="10612582"/>
                  </a:lnTo>
                  <a:lnTo>
                    <a:pt x="10686161" y="10612582"/>
                  </a:lnTo>
                  <a:lnTo>
                    <a:pt x="10692511" y="10612582"/>
                  </a:lnTo>
                  <a:cubicBezTo>
                    <a:pt x="10692511" y="10829048"/>
                    <a:pt x="10618470" y="11004512"/>
                    <a:pt x="10527157" y="11004512"/>
                  </a:cubicBezTo>
                  <a:lnTo>
                    <a:pt x="10527157" y="10989438"/>
                  </a:lnTo>
                  <a:lnTo>
                    <a:pt x="10527157" y="11004512"/>
                  </a:lnTo>
                  <a:lnTo>
                    <a:pt x="165354" y="11004512"/>
                  </a:lnTo>
                  <a:lnTo>
                    <a:pt x="165354" y="10989438"/>
                  </a:lnTo>
                  <a:lnTo>
                    <a:pt x="165354" y="11004512"/>
                  </a:lnTo>
                  <a:cubicBezTo>
                    <a:pt x="74041" y="11004512"/>
                    <a:pt x="0" y="10829048"/>
                    <a:pt x="0" y="10612582"/>
                  </a:cubicBezTo>
                  <a:lnTo>
                    <a:pt x="0" y="391931"/>
                  </a:lnTo>
                  <a:lnTo>
                    <a:pt x="6350" y="391931"/>
                  </a:lnTo>
                  <a:lnTo>
                    <a:pt x="0" y="391931"/>
                  </a:lnTo>
                  <a:moveTo>
                    <a:pt x="12700" y="391931"/>
                  </a:moveTo>
                  <a:lnTo>
                    <a:pt x="12700" y="10612582"/>
                  </a:lnTo>
                  <a:lnTo>
                    <a:pt x="6350" y="10612582"/>
                  </a:lnTo>
                  <a:lnTo>
                    <a:pt x="12700" y="10612582"/>
                  </a:lnTo>
                  <a:cubicBezTo>
                    <a:pt x="12700" y="10812466"/>
                    <a:pt x="81026" y="10974363"/>
                    <a:pt x="165354" y="10974363"/>
                  </a:cubicBezTo>
                  <a:lnTo>
                    <a:pt x="10527157" y="10974363"/>
                  </a:lnTo>
                  <a:cubicBezTo>
                    <a:pt x="10611485" y="10974363"/>
                    <a:pt x="10679811" y="10812165"/>
                    <a:pt x="10679811" y="10612582"/>
                  </a:cubicBezTo>
                  <a:lnTo>
                    <a:pt x="10679811" y="391931"/>
                  </a:lnTo>
                  <a:cubicBezTo>
                    <a:pt x="10679811" y="192046"/>
                    <a:pt x="10611485" y="30149"/>
                    <a:pt x="10527157" y="30149"/>
                  </a:cubicBezTo>
                  <a:lnTo>
                    <a:pt x="165354" y="30149"/>
                  </a:lnTo>
                  <a:lnTo>
                    <a:pt x="165354" y="15074"/>
                  </a:lnTo>
                  <a:lnTo>
                    <a:pt x="165354" y="30149"/>
                  </a:lnTo>
                  <a:cubicBezTo>
                    <a:pt x="81026" y="30149"/>
                    <a:pt x="12700" y="192348"/>
                    <a:pt x="12700" y="391931"/>
                  </a:cubicBezTo>
                  <a:close/>
                </a:path>
              </a:pathLst>
            </a:custGeom>
            <a:solidFill>
              <a:srgbClr val="BDB8DF"/>
            </a:solidFill>
          </p:spPr>
        </p:sp>
      </p:grpSp>
      <p:grpSp>
        <p:nvGrpSpPr>
          <p:cNvPr name="Group 11" id="11"/>
          <p:cNvGrpSpPr/>
          <p:nvPr/>
        </p:nvGrpSpPr>
        <p:grpSpPr>
          <a:xfrm rot="0">
            <a:off x="9280922" y="1433405"/>
            <a:ext cx="8019602" cy="8122074"/>
            <a:chOff x="0" y="0"/>
            <a:chExt cx="10692803" cy="10829432"/>
          </a:xfrm>
        </p:grpSpPr>
        <p:sp>
          <p:nvSpPr>
            <p:cNvPr name="Freeform 12" id="12"/>
            <p:cNvSpPr/>
            <p:nvPr/>
          </p:nvSpPr>
          <p:spPr>
            <a:xfrm flipH="false" flipV="false" rot="0">
              <a:off x="6350" y="14834"/>
              <a:ext cx="10680065" cy="10799586"/>
            </a:xfrm>
            <a:custGeom>
              <a:avLst/>
              <a:gdLst/>
              <a:ahLst/>
              <a:cxnLst/>
              <a:rect r="r" b="b" t="t" l="l"/>
              <a:pathLst>
                <a:path h="10799586" w="10680065">
                  <a:moveTo>
                    <a:pt x="0" y="370855"/>
                  </a:moveTo>
                  <a:cubicBezTo>
                    <a:pt x="0" y="166143"/>
                    <a:pt x="71247" y="0"/>
                    <a:pt x="159004" y="0"/>
                  </a:cubicBezTo>
                  <a:lnTo>
                    <a:pt x="10521061" y="0"/>
                  </a:lnTo>
                  <a:cubicBezTo>
                    <a:pt x="10608945" y="0"/>
                    <a:pt x="10680065" y="166143"/>
                    <a:pt x="10680065" y="370855"/>
                  </a:cubicBezTo>
                  <a:lnTo>
                    <a:pt x="10680065" y="10428731"/>
                  </a:lnTo>
                  <a:cubicBezTo>
                    <a:pt x="10680065" y="10633740"/>
                    <a:pt x="10608818" y="10799586"/>
                    <a:pt x="10521061" y="10799586"/>
                  </a:cubicBezTo>
                  <a:lnTo>
                    <a:pt x="159004" y="10799586"/>
                  </a:lnTo>
                  <a:cubicBezTo>
                    <a:pt x="71120" y="10799586"/>
                    <a:pt x="0" y="10633442"/>
                    <a:pt x="0" y="10428731"/>
                  </a:cubicBezTo>
                  <a:close/>
                </a:path>
              </a:pathLst>
            </a:custGeom>
            <a:solidFill>
              <a:srgbClr val="E9E6FA"/>
            </a:solidFill>
          </p:spPr>
        </p:sp>
        <p:sp>
          <p:nvSpPr>
            <p:cNvPr name="Freeform 13" id="13"/>
            <p:cNvSpPr/>
            <p:nvPr/>
          </p:nvSpPr>
          <p:spPr>
            <a:xfrm flipH="false" flipV="false" rot="0">
              <a:off x="0" y="0"/>
              <a:ext cx="10692765" cy="10829254"/>
            </a:xfrm>
            <a:custGeom>
              <a:avLst/>
              <a:gdLst/>
              <a:ahLst/>
              <a:cxnLst/>
              <a:rect r="r" b="b" t="t" l="l"/>
              <a:pathLst>
                <a:path h="10829254" w="10692765">
                  <a:moveTo>
                    <a:pt x="0" y="385689"/>
                  </a:moveTo>
                  <a:cubicBezTo>
                    <a:pt x="0" y="172670"/>
                    <a:pt x="74041" y="0"/>
                    <a:pt x="165354" y="0"/>
                  </a:cubicBezTo>
                  <a:lnTo>
                    <a:pt x="10527411" y="0"/>
                  </a:lnTo>
                  <a:lnTo>
                    <a:pt x="10527411" y="14834"/>
                  </a:lnTo>
                  <a:lnTo>
                    <a:pt x="10527411" y="0"/>
                  </a:lnTo>
                  <a:cubicBezTo>
                    <a:pt x="10618724" y="0"/>
                    <a:pt x="10692765" y="172670"/>
                    <a:pt x="10692765" y="385689"/>
                  </a:cubicBezTo>
                  <a:lnTo>
                    <a:pt x="10686415" y="385689"/>
                  </a:lnTo>
                  <a:lnTo>
                    <a:pt x="10692765" y="385689"/>
                  </a:lnTo>
                  <a:lnTo>
                    <a:pt x="10692765" y="10443565"/>
                  </a:lnTo>
                  <a:lnTo>
                    <a:pt x="10686415" y="10443565"/>
                  </a:lnTo>
                  <a:lnTo>
                    <a:pt x="10692765" y="10443565"/>
                  </a:lnTo>
                  <a:cubicBezTo>
                    <a:pt x="10692765" y="10656584"/>
                    <a:pt x="10618724" y="10829254"/>
                    <a:pt x="10527411" y="10829254"/>
                  </a:cubicBezTo>
                  <a:lnTo>
                    <a:pt x="10527411" y="10814420"/>
                  </a:lnTo>
                  <a:lnTo>
                    <a:pt x="10527411" y="10829254"/>
                  </a:lnTo>
                  <a:lnTo>
                    <a:pt x="165354" y="10829254"/>
                  </a:lnTo>
                  <a:lnTo>
                    <a:pt x="165354" y="10814420"/>
                  </a:lnTo>
                  <a:lnTo>
                    <a:pt x="165354" y="10829254"/>
                  </a:lnTo>
                  <a:cubicBezTo>
                    <a:pt x="74041" y="10829254"/>
                    <a:pt x="0" y="10656584"/>
                    <a:pt x="0" y="10443565"/>
                  </a:cubicBezTo>
                  <a:lnTo>
                    <a:pt x="0" y="385689"/>
                  </a:lnTo>
                  <a:lnTo>
                    <a:pt x="6350" y="385689"/>
                  </a:lnTo>
                  <a:lnTo>
                    <a:pt x="0" y="385689"/>
                  </a:lnTo>
                  <a:moveTo>
                    <a:pt x="12700" y="385689"/>
                  </a:moveTo>
                  <a:lnTo>
                    <a:pt x="12700" y="10443565"/>
                  </a:lnTo>
                  <a:lnTo>
                    <a:pt x="6350" y="10443565"/>
                  </a:lnTo>
                  <a:lnTo>
                    <a:pt x="12700" y="10443565"/>
                  </a:lnTo>
                  <a:cubicBezTo>
                    <a:pt x="12700" y="10640267"/>
                    <a:pt x="81026" y="10799586"/>
                    <a:pt x="165354" y="10799586"/>
                  </a:cubicBezTo>
                  <a:lnTo>
                    <a:pt x="10527411" y="10799586"/>
                  </a:lnTo>
                  <a:cubicBezTo>
                    <a:pt x="10611739" y="10799586"/>
                    <a:pt x="10680065" y="10639970"/>
                    <a:pt x="10680065" y="10443565"/>
                  </a:cubicBezTo>
                  <a:lnTo>
                    <a:pt x="10680065" y="385689"/>
                  </a:lnTo>
                  <a:cubicBezTo>
                    <a:pt x="10680065" y="188988"/>
                    <a:pt x="10611739" y="29668"/>
                    <a:pt x="10527411" y="29668"/>
                  </a:cubicBezTo>
                  <a:lnTo>
                    <a:pt x="165354" y="29668"/>
                  </a:lnTo>
                  <a:lnTo>
                    <a:pt x="165354" y="14834"/>
                  </a:lnTo>
                  <a:lnTo>
                    <a:pt x="165354" y="29668"/>
                  </a:lnTo>
                  <a:cubicBezTo>
                    <a:pt x="81026" y="29668"/>
                    <a:pt x="12700" y="189284"/>
                    <a:pt x="12700" y="385689"/>
                  </a:cubicBezTo>
                  <a:close/>
                </a:path>
              </a:pathLst>
            </a:custGeom>
            <a:solidFill>
              <a:srgbClr val="BDB8DF"/>
            </a:solidFill>
          </p:spPr>
        </p:sp>
      </p:grpSp>
      <p:grpSp>
        <p:nvGrpSpPr>
          <p:cNvPr name="Group 14" id="14"/>
          <p:cNvGrpSpPr/>
          <p:nvPr/>
        </p:nvGrpSpPr>
        <p:grpSpPr>
          <a:xfrm rot="0">
            <a:off x="16034317" y="9555479"/>
            <a:ext cx="2253683" cy="750571"/>
            <a:chOff x="0" y="0"/>
            <a:chExt cx="3632200" cy="1209675"/>
          </a:xfrm>
        </p:grpSpPr>
        <p:sp>
          <p:nvSpPr>
            <p:cNvPr name="Freeform 15" id="15"/>
            <p:cNvSpPr/>
            <p:nvPr/>
          </p:nvSpPr>
          <p:spPr>
            <a:xfrm flipH="false" flipV="false" rot="0">
              <a:off x="0" y="0"/>
              <a:ext cx="3632200" cy="1209675"/>
            </a:xfrm>
            <a:custGeom>
              <a:avLst/>
              <a:gdLst/>
              <a:ahLst/>
              <a:cxnLst/>
              <a:rect r="r" b="b" t="t" l="l"/>
              <a:pathLst>
                <a:path h="1209675" w="3632200">
                  <a:moveTo>
                    <a:pt x="0" y="0"/>
                  </a:moveTo>
                  <a:lnTo>
                    <a:pt x="3632200" y="0"/>
                  </a:lnTo>
                  <a:lnTo>
                    <a:pt x="3632200" y="1209675"/>
                  </a:lnTo>
                  <a:lnTo>
                    <a:pt x="0" y="1209675"/>
                  </a:lnTo>
                  <a:close/>
                </a:path>
              </a:pathLst>
            </a:custGeom>
            <a:solidFill>
              <a:srgbClr val="EEEEF4"/>
            </a:solidFill>
          </p:spPr>
        </p:sp>
      </p:grpSp>
      <p:sp>
        <p:nvSpPr>
          <p:cNvPr name="TextBox 16" id="16"/>
          <p:cNvSpPr txBox="true"/>
          <p:nvPr/>
        </p:nvSpPr>
        <p:spPr>
          <a:xfrm rot="0">
            <a:off x="987476" y="265285"/>
            <a:ext cx="12559507" cy="900112"/>
          </a:xfrm>
          <a:prstGeom prst="rect">
            <a:avLst/>
          </a:prstGeom>
        </p:spPr>
        <p:txBody>
          <a:bodyPr anchor="t" rtlCol="false" tIns="0" lIns="0" bIns="0" rIns="0">
            <a:spAutoFit/>
          </a:bodyPr>
          <a:lstStyle/>
          <a:p>
            <a:pPr algn="l">
              <a:lnSpc>
                <a:spcPts val="6937"/>
              </a:lnSpc>
            </a:pPr>
            <a:r>
              <a:rPr lang="en-US" sz="5562" b="true">
                <a:solidFill>
                  <a:srgbClr val="231971"/>
                </a:solidFill>
                <a:latin typeface="Arimo Bold"/>
                <a:ea typeface="Arimo Bold"/>
                <a:cs typeface="Arimo Bold"/>
                <a:sym typeface="Arimo Bold"/>
              </a:rPr>
              <a:t>Advanced Algorithms: p-DAS &amp; IMAP</a:t>
            </a:r>
          </a:p>
        </p:txBody>
      </p:sp>
      <p:sp>
        <p:nvSpPr>
          <p:cNvPr name="TextBox 17" id="17"/>
          <p:cNvSpPr txBox="true"/>
          <p:nvPr/>
        </p:nvSpPr>
        <p:spPr>
          <a:xfrm rot="0">
            <a:off x="2348144" y="1693104"/>
            <a:ext cx="5298123" cy="449262"/>
          </a:xfrm>
          <a:prstGeom prst="rect">
            <a:avLst/>
          </a:prstGeom>
        </p:spPr>
        <p:txBody>
          <a:bodyPr anchor="t" rtlCol="false" tIns="0" lIns="0" bIns="0" rIns="0">
            <a:spAutoFit/>
          </a:bodyPr>
          <a:lstStyle/>
          <a:p>
            <a:pPr algn="ctr">
              <a:lnSpc>
                <a:spcPts val="3437"/>
              </a:lnSpc>
            </a:pPr>
            <a:r>
              <a:rPr lang="en-US" sz="2750" b="true">
                <a:solidFill>
                  <a:srgbClr val="2A2742"/>
                </a:solidFill>
                <a:latin typeface="Arimo Bold"/>
                <a:ea typeface="Arimo Bold"/>
                <a:cs typeface="Arimo Bold"/>
                <a:sym typeface="Arimo Bold"/>
              </a:rPr>
              <a:t>p-DAS — Power Delay-and-Sum</a:t>
            </a:r>
          </a:p>
        </p:txBody>
      </p:sp>
      <p:sp>
        <p:nvSpPr>
          <p:cNvPr name="TextBox 18" id="18"/>
          <p:cNvSpPr txBox="true"/>
          <p:nvPr/>
        </p:nvSpPr>
        <p:spPr>
          <a:xfrm rot="0">
            <a:off x="1511850" y="2788500"/>
            <a:ext cx="6970710" cy="5448080"/>
          </a:xfrm>
          <a:prstGeom prst="rect">
            <a:avLst/>
          </a:prstGeom>
        </p:spPr>
        <p:txBody>
          <a:bodyPr anchor="t" rtlCol="false" tIns="0" lIns="0" bIns="0" rIns="0">
            <a:spAutoFit/>
          </a:bodyPr>
          <a:lstStyle/>
          <a:p>
            <a:pPr algn="l" marL="443455" indent="-221727" lvl="1">
              <a:lnSpc>
                <a:spcPts val="3343"/>
              </a:lnSpc>
              <a:buFont typeface="Arial"/>
              <a:buChar char="•"/>
            </a:pPr>
            <a:r>
              <a:rPr lang="en-US" sz="2053">
                <a:solidFill>
                  <a:srgbClr val="2A2742"/>
                </a:solidFill>
                <a:latin typeface="Arimo"/>
                <a:ea typeface="Arimo"/>
                <a:cs typeface="Arimo"/>
                <a:sym typeface="Arimo"/>
              </a:rPr>
              <a:t>Raises delayed signals to a power factor before summation, then extracts the root. This non-linear operation </a:t>
            </a:r>
            <a:r>
              <a:rPr lang="en-US" b="true" sz="2053">
                <a:solidFill>
                  <a:srgbClr val="2A2742"/>
                </a:solidFill>
                <a:latin typeface="Arimo Bold"/>
                <a:ea typeface="Arimo Bold"/>
                <a:cs typeface="Arimo Bold"/>
                <a:sym typeface="Arimo Bold"/>
              </a:rPr>
              <a:t>suppresses low-amplitude noise</a:t>
            </a:r>
            <a:r>
              <a:rPr lang="en-US" sz="2053">
                <a:solidFill>
                  <a:srgbClr val="2A2742"/>
                </a:solidFill>
                <a:latin typeface="Arimo"/>
                <a:ea typeface="Arimo"/>
                <a:cs typeface="Arimo"/>
                <a:sym typeface="Arimo"/>
              </a:rPr>
              <a:t> while preserving true high-amplitude echoes, producing a tighter focal spot.</a:t>
            </a:r>
          </a:p>
          <a:p>
            <a:pPr algn="l">
              <a:lnSpc>
                <a:spcPts val="3343"/>
              </a:lnSpc>
            </a:pPr>
          </a:p>
          <a:p>
            <a:pPr algn="just" marL="443455" indent="-221727" lvl="1">
              <a:lnSpc>
                <a:spcPts val="3343"/>
              </a:lnSpc>
              <a:buFont typeface="Arial"/>
              <a:buChar char="•"/>
            </a:pPr>
            <a:r>
              <a:rPr lang="en-US" sz="2053">
                <a:solidFill>
                  <a:srgbClr val="2A2742"/>
                </a:solidFill>
                <a:latin typeface="Arimo"/>
                <a:ea typeface="Arimo"/>
                <a:cs typeface="Arimo"/>
                <a:sym typeface="Arimo"/>
              </a:rPr>
              <a:t>I</a:t>
            </a:r>
            <a:r>
              <a:rPr lang="en-US" sz="2053">
                <a:solidFill>
                  <a:srgbClr val="2A2742"/>
                </a:solidFill>
                <a:latin typeface="Arimo"/>
                <a:ea typeface="Arimo"/>
                <a:cs typeface="Arimo"/>
                <a:sym typeface="Arimo"/>
              </a:rPr>
              <a:t>n pDAS, the image is not built line-by-line. Instead, the algorithm defines a grid of pixels (x, z). For every single pixel, it independently calculates the time it took for the plane wave to reach that pixel and the time for the echo to travel back to the sensor</a:t>
            </a:r>
          </a:p>
          <a:p>
            <a:pPr algn="just">
              <a:lnSpc>
                <a:spcPts val="3343"/>
              </a:lnSpc>
            </a:pPr>
          </a:p>
          <a:p>
            <a:pPr algn="just">
              <a:lnSpc>
                <a:spcPts val="3345"/>
              </a:lnSpc>
            </a:pPr>
          </a:p>
        </p:txBody>
      </p:sp>
      <p:sp>
        <p:nvSpPr>
          <p:cNvPr name="TextBox 19" id="19"/>
          <p:cNvSpPr txBox="true"/>
          <p:nvPr/>
        </p:nvSpPr>
        <p:spPr>
          <a:xfrm rot="0">
            <a:off x="11660291" y="1693104"/>
            <a:ext cx="3551872" cy="449262"/>
          </a:xfrm>
          <a:prstGeom prst="rect">
            <a:avLst/>
          </a:prstGeom>
        </p:spPr>
        <p:txBody>
          <a:bodyPr anchor="t" rtlCol="false" tIns="0" lIns="0" bIns="0" rIns="0">
            <a:spAutoFit/>
          </a:bodyPr>
          <a:lstStyle/>
          <a:p>
            <a:pPr algn="ctr">
              <a:lnSpc>
                <a:spcPts val="3437"/>
              </a:lnSpc>
            </a:pPr>
            <a:r>
              <a:rPr lang="en-US" sz="2750" b="true">
                <a:solidFill>
                  <a:srgbClr val="2A2742"/>
                </a:solidFill>
                <a:latin typeface="Arimo Bold"/>
                <a:ea typeface="Arimo Bold"/>
                <a:cs typeface="Arimo Bold"/>
                <a:sym typeface="Arimo Bold"/>
              </a:rPr>
              <a:t>IMAP — Iterative Map</a:t>
            </a:r>
          </a:p>
        </p:txBody>
      </p:sp>
      <p:sp>
        <p:nvSpPr>
          <p:cNvPr name="TextBox 20" id="20"/>
          <p:cNvSpPr txBox="true"/>
          <p:nvPr/>
        </p:nvSpPr>
        <p:spPr>
          <a:xfrm rot="0">
            <a:off x="9701651" y="2609092"/>
            <a:ext cx="7378805" cy="6689346"/>
          </a:xfrm>
          <a:prstGeom prst="rect">
            <a:avLst/>
          </a:prstGeom>
        </p:spPr>
        <p:txBody>
          <a:bodyPr anchor="t" rtlCol="false" tIns="0" lIns="0" bIns="0" rIns="0">
            <a:spAutoFit/>
          </a:bodyPr>
          <a:lstStyle/>
          <a:p>
            <a:pPr algn="l" marL="442594" indent="-221297" lvl="1">
              <a:lnSpc>
                <a:spcPts val="3337"/>
              </a:lnSpc>
              <a:buFont typeface="Arial"/>
              <a:buChar char="•"/>
            </a:pPr>
            <a:r>
              <a:rPr lang="en-US" sz="2049">
                <a:solidFill>
                  <a:srgbClr val="2A2742"/>
                </a:solidFill>
                <a:latin typeface="Arimo"/>
                <a:ea typeface="Arimo"/>
                <a:cs typeface="Arimo"/>
                <a:sym typeface="Arimo"/>
              </a:rPr>
              <a:t>Uses a </a:t>
            </a:r>
            <a:r>
              <a:rPr lang="en-US" b="true" sz="2049">
                <a:solidFill>
                  <a:srgbClr val="2A2742"/>
                </a:solidFill>
                <a:latin typeface="Arimo Bold"/>
                <a:ea typeface="Arimo Bold"/>
                <a:cs typeface="Arimo Bold"/>
                <a:sym typeface="Arimo Bold"/>
              </a:rPr>
              <a:t>Coherence Factor</a:t>
            </a:r>
            <a:r>
              <a:rPr lang="en-US" sz="2049">
                <a:solidFill>
                  <a:srgbClr val="2A2742"/>
                </a:solidFill>
                <a:latin typeface="Arimo"/>
                <a:ea typeface="Arimo"/>
                <a:cs typeface="Arimo"/>
                <a:sym typeface="Arimo"/>
              </a:rPr>
              <a:t> to verify phase agreement across all transducer elements. In artifact regions, low coherence is detected and pixel values are iteratively driven to zero and eliminating "butterfly" tails entirely.</a:t>
            </a:r>
          </a:p>
          <a:p>
            <a:pPr algn="l">
              <a:lnSpc>
                <a:spcPts val="3337"/>
              </a:lnSpc>
            </a:pPr>
          </a:p>
          <a:p>
            <a:pPr algn="l">
              <a:lnSpc>
                <a:spcPts val="3337"/>
              </a:lnSpc>
            </a:pPr>
          </a:p>
          <a:p>
            <a:pPr algn="l" marL="442594" indent="-221297" lvl="1">
              <a:lnSpc>
                <a:spcPts val="3337"/>
              </a:lnSpc>
              <a:buFont typeface="Arial"/>
              <a:buChar char="•"/>
            </a:pPr>
            <a:r>
              <a:rPr lang="en-US" sz="2049">
                <a:solidFill>
                  <a:srgbClr val="2A2742"/>
                </a:solidFill>
                <a:latin typeface="Arimo"/>
                <a:ea typeface="Arimo"/>
                <a:cs typeface="Arimo"/>
                <a:sym typeface="Arimo"/>
              </a:rPr>
              <a:t>The most common weight is the Coherence Factor (CF), which is mainly used to highly improve imaging resolution and reducing sidelobes. CF is calculated by dividing the coherent sum of delayed RF-data by its incoherent sum.</a:t>
            </a:r>
          </a:p>
          <a:p>
            <a:pPr algn="l">
              <a:lnSpc>
                <a:spcPts val="3337"/>
              </a:lnSpc>
            </a:pPr>
          </a:p>
          <a:p>
            <a:pPr algn="l">
              <a:lnSpc>
                <a:spcPts val="3337"/>
              </a:lnSpc>
            </a:pPr>
          </a:p>
          <a:p>
            <a:pPr algn="l">
              <a:lnSpc>
                <a:spcPts val="3337"/>
              </a:lnSpc>
            </a:pPr>
          </a:p>
          <a:p>
            <a:pPr algn="l">
              <a:lnSpc>
                <a:spcPts val="3337"/>
              </a:lnSpc>
            </a:pPr>
          </a:p>
          <a:p>
            <a:pPr algn="l">
              <a:lnSpc>
                <a:spcPts val="3337"/>
              </a:lnSpc>
            </a:pPr>
          </a:p>
          <a:p>
            <a:pPr algn="l">
              <a:lnSpc>
                <a:spcPts val="3338"/>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5563850" y="9379744"/>
            <a:ext cx="2724150" cy="907256"/>
            <a:chOff x="0" y="0"/>
            <a:chExt cx="3632200" cy="1209675"/>
          </a:xfrm>
        </p:grpSpPr>
        <p:sp>
          <p:nvSpPr>
            <p:cNvPr name="Freeform 9" id="9"/>
            <p:cNvSpPr/>
            <p:nvPr/>
          </p:nvSpPr>
          <p:spPr>
            <a:xfrm flipH="false" flipV="false" rot="0">
              <a:off x="0" y="0"/>
              <a:ext cx="3632200" cy="1209675"/>
            </a:xfrm>
            <a:custGeom>
              <a:avLst/>
              <a:gdLst/>
              <a:ahLst/>
              <a:cxnLst/>
              <a:rect r="r" b="b" t="t" l="l"/>
              <a:pathLst>
                <a:path h="1209675" w="3632200">
                  <a:moveTo>
                    <a:pt x="0" y="0"/>
                  </a:moveTo>
                  <a:lnTo>
                    <a:pt x="3632200" y="0"/>
                  </a:lnTo>
                  <a:lnTo>
                    <a:pt x="3632200" y="1209675"/>
                  </a:lnTo>
                  <a:lnTo>
                    <a:pt x="0" y="1209675"/>
                  </a:lnTo>
                  <a:close/>
                </a:path>
              </a:pathLst>
            </a:custGeom>
            <a:solidFill>
              <a:srgbClr val="EEEEF4"/>
            </a:solidFill>
          </p:spPr>
        </p:sp>
      </p:grpSp>
      <p:sp>
        <p:nvSpPr>
          <p:cNvPr name="TextBox 10" id="10"/>
          <p:cNvSpPr txBox="true"/>
          <p:nvPr/>
        </p:nvSpPr>
        <p:spPr>
          <a:xfrm rot="0">
            <a:off x="992238" y="1138533"/>
            <a:ext cx="10254558" cy="943127"/>
          </a:xfrm>
          <a:prstGeom prst="rect">
            <a:avLst/>
          </a:prstGeom>
        </p:spPr>
        <p:txBody>
          <a:bodyPr anchor="t" rtlCol="false" tIns="0" lIns="0" bIns="0" rIns="0">
            <a:spAutoFit/>
          </a:bodyPr>
          <a:lstStyle/>
          <a:p>
            <a:pPr algn="l">
              <a:lnSpc>
                <a:spcPts val="6937"/>
              </a:lnSpc>
            </a:pPr>
            <a:r>
              <a:rPr lang="en-US" sz="5562" b="true">
                <a:solidFill>
                  <a:srgbClr val="231971"/>
                </a:solidFill>
                <a:latin typeface="Arimo Bold"/>
                <a:ea typeface="Arimo Bold"/>
                <a:cs typeface="Arimo Bold"/>
                <a:sym typeface="Arimo Bold"/>
              </a:rPr>
              <a:t>Dataset &amp; Validation Approach</a:t>
            </a:r>
          </a:p>
        </p:txBody>
      </p:sp>
      <p:grpSp>
        <p:nvGrpSpPr>
          <p:cNvPr name="Group 11" id="11"/>
          <p:cNvGrpSpPr/>
          <p:nvPr/>
        </p:nvGrpSpPr>
        <p:grpSpPr>
          <a:xfrm rot="0">
            <a:off x="709378" y="3445435"/>
            <a:ext cx="6242444" cy="3785350"/>
            <a:chOff x="0" y="0"/>
            <a:chExt cx="11557940" cy="7008609"/>
          </a:xfrm>
        </p:grpSpPr>
        <p:sp>
          <p:nvSpPr>
            <p:cNvPr name="Freeform 12" id="12"/>
            <p:cNvSpPr/>
            <p:nvPr/>
          </p:nvSpPr>
          <p:spPr>
            <a:xfrm flipH="false" flipV="false" rot="0">
              <a:off x="0" y="0"/>
              <a:ext cx="11557953" cy="7008622"/>
            </a:xfrm>
            <a:custGeom>
              <a:avLst/>
              <a:gdLst/>
              <a:ahLst/>
              <a:cxnLst/>
              <a:rect r="r" b="b" t="t" l="l"/>
              <a:pathLst>
                <a:path h="7008622" w="11557953">
                  <a:moveTo>
                    <a:pt x="0" y="0"/>
                  </a:moveTo>
                  <a:lnTo>
                    <a:pt x="11557953" y="0"/>
                  </a:lnTo>
                  <a:lnTo>
                    <a:pt x="11557953" y="7008622"/>
                  </a:lnTo>
                  <a:lnTo>
                    <a:pt x="0" y="7008622"/>
                  </a:lnTo>
                  <a:lnTo>
                    <a:pt x="0" y="0"/>
                  </a:lnTo>
                  <a:close/>
                </a:path>
              </a:pathLst>
            </a:custGeom>
            <a:blipFill>
              <a:blip r:embed="rId6"/>
              <a:stretch>
                <a:fillRect l="-218" t="0" r="-218" b="0"/>
              </a:stretch>
            </a:blipFill>
          </p:spPr>
        </p:sp>
      </p:grpSp>
      <p:grpSp>
        <p:nvGrpSpPr>
          <p:cNvPr name="Group 13" id="13"/>
          <p:cNvGrpSpPr/>
          <p:nvPr/>
        </p:nvGrpSpPr>
        <p:grpSpPr>
          <a:xfrm rot="0">
            <a:off x="7305397" y="7746420"/>
            <a:ext cx="10355161" cy="1204760"/>
            <a:chOff x="0" y="0"/>
            <a:chExt cx="13806881" cy="1606347"/>
          </a:xfrm>
        </p:grpSpPr>
        <p:sp>
          <p:nvSpPr>
            <p:cNvPr name="Freeform 14" id="14"/>
            <p:cNvSpPr/>
            <p:nvPr/>
          </p:nvSpPr>
          <p:spPr>
            <a:xfrm flipH="false" flipV="false" rot="0">
              <a:off x="0" y="0"/>
              <a:ext cx="13806805" cy="1606296"/>
            </a:xfrm>
            <a:custGeom>
              <a:avLst/>
              <a:gdLst/>
              <a:ahLst/>
              <a:cxnLst/>
              <a:rect r="r" b="b" t="t" l="l"/>
              <a:pathLst>
                <a:path h="1606296" w="13806805">
                  <a:moveTo>
                    <a:pt x="0" y="158750"/>
                  </a:moveTo>
                  <a:cubicBezTo>
                    <a:pt x="0" y="71120"/>
                    <a:pt x="71120" y="0"/>
                    <a:pt x="158750" y="0"/>
                  </a:cubicBezTo>
                  <a:lnTo>
                    <a:pt x="13648055" y="0"/>
                  </a:lnTo>
                  <a:cubicBezTo>
                    <a:pt x="13735686" y="0"/>
                    <a:pt x="13806805" y="71120"/>
                    <a:pt x="13806805" y="158750"/>
                  </a:cubicBezTo>
                  <a:lnTo>
                    <a:pt x="13806805" y="1447546"/>
                  </a:lnTo>
                  <a:cubicBezTo>
                    <a:pt x="13806805" y="1535176"/>
                    <a:pt x="13735686" y="1606296"/>
                    <a:pt x="13648055" y="1606296"/>
                  </a:cubicBezTo>
                  <a:lnTo>
                    <a:pt x="158750" y="1606296"/>
                  </a:lnTo>
                  <a:cubicBezTo>
                    <a:pt x="71120" y="1606296"/>
                    <a:pt x="0" y="1535176"/>
                    <a:pt x="0" y="1447546"/>
                  </a:cubicBezTo>
                  <a:close/>
                </a:path>
              </a:pathLst>
            </a:custGeom>
            <a:solidFill>
              <a:srgbClr val="B6D6FC"/>
            </a:solidFill>
          </p:spPr>
        </p:sp>
      </p:grpSp>
      <p:grpSp>
        <p:nvGrpSpPr>
          <p:cNvPr name="Group 15" id="15"/>
          <p:cNvGrpSpPr/>
          <p:nvPr/>
        </p:nvGrpSpPr>
        <p:grpSpPr>
          <a:xfrm rot="0">
            <a:off x="7993681" y="8209725"/>
            <a:ext cx="354359" cy="283521"/>
            <a:chOff x="0" y="0"/>
            <a:chExt cx="472478" cy="378028"/>
          </a:xfrm>
        </p:grpSpPr>
        <p:sp>
          <p:nvSpPr>
            <p:cNvPr name="Freeform 16" id="16" descr="preencoded.png"/>
            <p:cNvSpPr/>
            <p:nvPr/>
          </p:nvSpPr>
          <p:spPr>
            <a:xfrm flipH="false" flipV="false" rot="0">
              <a:off x="0" y="0"/>
              <a:ext cx="472440" cy="378079"/>
            </a:xfrm>
            <a:custGeom>
              <a:avLst/>
              <a:gdLst/>
              <a:ahLst/>
              <a:cxnLst/>
              <a:rect r="r" b="b" t="t" l="l"/>
              <a:pathLst>
                <a:path h="378079" w="472440">
                  <a:moveTo>
                    <a:pt x="0" y="0"/>
                  </a:moveTo>
                  <a:lnTo>
                    <a:pt x="472440" y="0"/>
                  </a:lnTo>
                  <a:lnTo>
                    <a:pt x="472440" y="378079"/>
                  </a:lnTo>
                  <a:lnTo>
                    <a:pt x="0" y="378079"/>
                  </a:lnTo>
                  <a:lnTo>
                    <a:pt x="0" y="0"/>
                  </a:lnTo>
                  <a:close/>
                </a:path>
              </a:pathLst>
            </a:custGeom>
            <a:blipFill>
              <a:blip r:embed="rId7"/>
              <a:stretch>
                <a:fillRect l="0" t="-671" r="-8" b="-655"/>
              </a:stretch>
            </a:blipFill>
          </p:spPr>
        </p:sp>
      </p:grpSp>
      <p:sp>
        <p:nvSpPr>
          <p:cNvPr name="TextBox 17" id="17"/>
          <p:cNvSpPr txBox="true"/>
          <p:nvPr/>
        </p:nvSpPr>
        <p:spPr>
          <a:xfrm rot="0">
            <a:off x="7710159" y="2964422"/>
            <a:ext cx="3544043" cy="481012"/>
          </a:xfrm>
          <a:prstGeom prst="rect">
            <a:avLst/>
          </a:prstGeom>
        </p:spPr>
        <p:txBody>
          <a:bodyPr anchor="t" rtlCol="false" tIns="0" lIns="0" bIns="0" rIns="0">
            <a:spAutoFit/>
          </a:bodyPr>
          <a:lstStyle/>
          <a:p>
            <a:pPr algn="l">
              <a:lnSpc>
                <a:spcPts val="3437"/>
              </a:lnSpc>
            </a:pPr>
            <a:r>
              <a:rPr lang="en-US" sz="2750" b="true">
                <a:solidFill>
                  <a:srgbClr val="231971"/>
                </a:solidFill>
                <a:latin typeface="Arimo Bold"/>
                <a:ea typeface="Arimo Bold"/>
                <a:cs typeface="Arimo Bold"/>
                <a:sym typeface="Arimo Bold"/>
              </a:rPr>
              <a:t>In-Silico Flow Data</a:t>
            </a:r>
          </a:p>
        </p:txBody>
      </p:sp>
      <p:sp>
        <p:nvSpPr>
          <p:cNvPr name="TextBox 18" id="18"/>
          <p:cNvSpPr txBox="true"/>
          <p:nvPr/>
        </p:nvSpPr>
        <p:spPr>
          <a:xfrm rot="0">
            <a:off x="7710159" y="3624181"/>
            <a:ext cx="10355161" cy="1328737"/>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We use </a:t>
            </a:r>
            <a:r>
              <a:rPr lang="en-US" sz="2187" b="true">
                <a:solidFill>
                  <a:srgbClr val="2A2742"/>
                </a:solidFill>
                <a:latin typeface="Arimo Bold"/>
                <a:ea typeface="Arimo Bold"/>
                <a:cs typeface="Arimo Bold"/>
                <a:sym typeface="Arimo Bold"/>
              </a:rPr>
              <a:t>simulated RF ultrasound datasets</a:t>
            </a:r>
            <a:r>
              <a:rPr lang="en-US" sz="2187">
                <a:solidFill>
                  <a:srgbClr val="2A2742"/>
                </a:solidFill>
                <a:latin typeface="Arimo"/>
                <a:ea typeface="Arimo"/>
                <a:cs typeface="Arimo"/>
                <a:sym typeface="Arimo"/>
              </a:rPr>
              <a:t> with precisely known scatterer coordinates as ground truth that led us define a precise target localization with accuracy.</a:t>
            </a:r>
          </a:p>
        </p:txBody>
      </p:sp>
      <p:sp>
        <p:nvSpPr>
          <p:cNvPr name="TextBox 19" id="19"/>
          <p:cNvSpPr txBox="true"/>
          <p:nvPr/>
        </p:nvSpPr>
        <p:spPr>
          <a:xfrm rot="0">
            <a:off x="7710159" y="5335252"/>
            <a:ext cx="3618014" cy="481012"/>
          </a:xfrm>
          <a:prstGeom prst="rect">
            <a:avLst/>
          </a:prstGeom>
        </p:spPr>
        <p:txBody>
          <a:bodyPr anchor="t" rtlCol="false" tIns="0" lIns="0" bIns="0" rIns="0">
            <a:spAutoFit/>
          </a:bodyPr>
          <a:lstStyle/>
          <a:p>
            <a:pPr algn="l">
              <a:lnSpc>
                <a:spcPts val="3437"/>
              </a:lnSpc>
            </a:pPr>
            <a:r>
              <a:rPr lang="en-US" sz="2750" b="true">
                <a:solidFill>
                  <a:srgbClr val="231971"/>
                </a:solidFill>
                <a:latin typeface="Arimo Bold"/>
                <a:ea typeface="Arimo Bold"/>
                <a:cs typeface="Arimo Bold"/>
                <a:sym typeface="Arimo Bold"/>
              </a:rPr>
              <a:t>Why Simulation First?</a:t>
            </a:r>
          </a:p>
        </p:txBody>
      </p:sp>
      <p:sp>
        <p:nvSpPr>
          <p:cNvPr name="TextBox 20" id="20"/>
          <p:cNvSpPr txBox="true"/>
          <p:nvPr/>
        </p:nvSpPr>
        <p:spPr>
          <a:xfrm rot="0">
            <a:off x="7710159" y="5995011"/>
            <a:ext cx="10355161" cy="1465659"/>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Known ground-truth positions allow us to verify that algorithms localize spots </a:t>
            </a:r>
            <a:r>
              <a:rPr lang="en-US" sz="2187" b="true">
                <a:solidFill>
                  <a:srgbClr val="2A2742"/>
                </a:solidFill>
                <a:latin typeface="Arimo Bold"/>
                <a:ea typeface="Arimo Bold"/>
                <a:cs typeface="Arimo Bold"/>
                <a:sym typeface="Arimo Bold"/>
              </a:rPr>
              <a:t>without shifting the target</a:t>
            </a:r>
            <a:r>
              <a:rPr lang="en-US" sz="2187">
                <a:solidFill>
                  <a:srgbClr val="2A2742"/>
                </a:solidFill>
                <a:latin typeface="Arimo"/>
                <a:ea typeface="Arimo"/>
                <a:cs typeface="Arimo"/>
                <a:sym typeface="Arimo"/>
              </a:rPr>
              <a:t>, isolating algorithmic performance from biological variability.</a:t>
            </a:r>
          </a:p>
        </p:txBody>
      </p:sp>
      <p:sp>
        <p:nvSpPr>
          <p:cNvPr name="TextBox 21" id="21"/>
          <p:cNvSpPr txBox="true"/>
          <p:nvPr/>
        </p:nvSpPr>
        <p:spPr>
          <a:xfrm rot="0">
            <a:off x="8631560" y="8029198"/>
            <a:ext cx="9150248" cy="558403"/>
          </a:xfrm>
          <a:prstGeom prst="rect">
            <a:avLst/>
          </a:prstGeom>
        </p:spPr>
        <p:txBody>
          <a:bodyPr anchor="t" rtlCol="false" tIns="0" lIns="0" bIns="0" rIns="0">
            <a:spAutoFit/>
          </a:bodyPr>
          <a:lstStyle/>
          <a:p>
            <a:pPr algn="l">
              <a:lnSpc>
                <a:spcPts val="3562"/>
              </a:lnSpc>
            </a:pPr>
            <a:r>
              <a:rPr lang="en-US" sz="2187">
                <a:solidFill>
                  <a:srgbClr val="000000"/>
                </a:solidFill>
                <a:latin typeface="Arimo"/>
                <a:ea typeface="Arimo"/>
                <a:cs typeface="Arimo"/>
                <a:sym typeface="Arimo"/>
              </a:rPr>
              <a:t>Next milestone: validation on in-vivo human clinical data.</a:t>
            </a:r>
          </a:p>
        </p:txBody>
      </p:sp>
      <p:sp>
        <p:nvSpPr>
          <p:cNvPr name="TextBox 22" id="22"/>
          <p:cNvSpPr txBox="true"/>
          <p:nvPr/>
        </p:nvSpPr>
        <p:spPr>
          <a:xfrm rot="0">
            <a:off x="3004471" y="7571636"/>
            <a:ext cx="2133600" cy="357569"/>
          </a:xfrm>
          <a:prstGeom prst="rect">
            <a:avLst/>
          </a:prstGeom>
        </p:spPr>
        <p:txBody>
          <a:bodyPr anchor="t" rtlCol="false" tIns="0" lIns="0" bIns="0" rIns="0">
            <a:spAutoFit/>
          </a:bodyPr>
          <a:lstStyle/>
          <a:p>
            <a:pPr algn="l">
              <a:lnSpc>
                <a:spcPts val="2737"/>
              </a:lnSpc>
            </a:pPr>
            <a:r>
              <a:rPr lang="en-US" sz="2190">
                <a:solidFill>
                  <a:srgbClr val="2A2742"/>
                </a:solidFill>
                <a:latin typeface="Arimo"/>
                <a:ea typeface="Arimo"/>
                <a:cs typeface="Arimo"/>
                <a:sym typeface="Arimo"/>
              </a:rPr>
              <a:t>Reference Image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5563850" y="9379744"/>
            <a:ext cx="2724150" cy="907256"/>
            <a:chOff x="0" y="0"/>
            <a:chExt cx="3632200" cy="1209675"/>
          </a:xfrm>
        </p:grpSpPr>
        <p:sp>
          <p:nvSpPr>
            <p:cNvPr name="Freeform 9" id="9"/>
            <p:cNvSpPr/>
            <p:nvPr/>
          </p:nvSpPr>
          <p:spPr>
            <a:xfrm flipH="false" flipV="false" rot="0">
              <a:off x="0" y="0"/>
              <a:ext cx="3632200" cy="1209675"/>
            </a:xfrm>
            <a:custGeom>
              <a:avLst/>
              <a:gdLst/>
              <a:ahLst/>
              <a:cxnLst/>
              <a:rect r="r" b="b" t="t" l="l"/>
              <a:pathLst>
                <a:path h="1209675" w="3632200">
                  <a:moveTo>
                    <a:pt x="0" y="0"/>
                  </a:moveTo>
                  <a:lnTo>
                    <a:pt x="3632200" y="0"/>
                  </a:lnTo>
                  <a:lnTo>
                    <a:pt x="3632200" y="1209675"/>
                  </a:lnTo>
                  <a:lnTo>
                    <a:pt x="0" y="1209675"/>
                  </a:lnTo>
                  <a:close/>
                </a:path>
              </a:pathLst>
            </a:custGeom>
            <a:solidFill>
              <a:srgbClr val="EEEEF4"/>
            </a:solidFill>
          </p:spPr>
        </p:sp>
      </p:grpSp>
      <p:sp>
        <p:nvSpPr>
          <p:cNvPr name="Freeform 10" id="10"/>
          <p:cNvSpPr/>
          <p:nvPr/>
        </p:nvSpPr>
        <p:spPr>
          <a:xfrm flipH="false" flipV="false" rot="0">
            <a:off x="10835421" y="1296518"/>
            <a:ext cx="5055149" cy="3054957"/>
          </a:xfrm>
          <a:custGeom>
            <a:avLst/>
            <a:gdLst/>
            <a:ahLst/>
            <a:cxnLst/>
            <a:rect r="r" b="b" t="t" l="l"/>
            <a:pathLst>
              <a:path h="3054957" w="5055149">
                <a:moveTo>
                  <a:pt x="0" y="0"/>
                </a:moveTo>
                <a:lnTo>
                  <a:pt x="5055149" y="0"/>
                </a:lnTo>
                <a:lnTo>
                  <a:pt x="5055149" y="3054957"/>
                </a:lnTo>
                <a:lnTo>
                  <a:pt x="0" y="3054957"/>
                </a:lnTo>
                <a:lnTo>
                  <a:pt x="0" y="0"/>
                </a:lnTo>
                <a:close/>
              </a:path>
            </a:pathLst>
          </a:custGeom>
          <a:blipFill>
            <a:blip r:embed="rId5"/>
            <a:stretch>
              <a:fillRect l="-12589" t="0" r="-21332" b="0"/>
            </a:stretch>
          </a:blipFill>
        </p:spPr>
      </p:sp>
      <p:sp>
        <p:nvSpPr>
          <p:cNvPr name="Freeform 11" id="11"/>
          <p:cNvSpPr/>
          <p:nvPr/>
        </p:nvSpPr>
        <p:spPr>
          <a:xfrm flipH="false" flipV="false" rot="0">
            <a:off x="2741834" y="1352631"/>
            <a:ext cx="4956766" cy="2998844"/>
          </a:xfrm>
          <a:custGeom>
            <a:avLst/>
            <a:gdLst/>
            <a:ahLst/>
            <a:cxnLst/>
            <a:rect r="r" b="b" t="t" l="l"/>
            <a:pathLst>
              <a:path h="2998844" w="4956766">
                <a:moveTo>
                  <a:pt x="0" y="0"/>
                </a:moveTo>
                <a:lnTo>
                  <a:pt x="4956766" y="0"/>
                </a:lnTo>
                <a:lnTo>
                  <a:pt x="4956766" y="2998844"/>
                </a:lnTo>
                <a:lnTo>
                  <a:pt x="0" y="2998844"/>
                </a:lnTo>
                <a:lnTo>
                  <a:pt x="0" y="0"/>
                </a:lnTo>
                <a:close/>
              </a:path>
            </a:pathLst>
          </a:custGeom>
          <a:blipFill>
            <a:blip r:embed="rId6"/>
            <a:stretch>
              <a:fillRect l="0" t="0" r="0" b="0"/>
            </a:stretch>
          </a:blipFill>
        </p:spPr>
      </p:sp>
      <p:sp>
        <p:nvSpPr>
          <p:cNvPr name="Freeform 12" id="12"/>
          <p:cNvSpPr/>
          <p:nvPr/>
        </p:nvSpPr>
        <p:spPr>
          <a:xfrm flipH="false" flipV="false" rot="0">
            <a:off x="3705453" y="5219337"/>
            <a:ext cx="11301259" cy="3814175"/>
          </a:xfrm>
          <a:custGeom>
            <a:avLst/>
            <a:gdLst/>
            <a:ahLst/>
            <a:cxnLst/>
            <a:rect r="r" b="b" t="t" l="l"/>
            <a:pathLst>
              <a:path h="3814175" w="11301259">
                <a:moveTo>
                  <a:pt x="0" y="0"/>
                </a:moveTo>
                <a:lnTo>
                  <a:pt x="11301259" y="0"/>
                </a:lnTo>
                <a:lnTo>
                  <a:pt x="11301259" y="3814175"/>
                </a:lnTo>
                <a:lnTo>
                  <a:pt x="0" y="3814175"/>
                </a:lnTo>
                <a:lnTo>
                  <a:pt x="0" y="0"/>
                </a:lnTo>
                <a:close/>
              </a:path>
            </a:pathLst>
          </a:custGeom>
          <a:blipFill>
            <a:blip r:embed="rId7"/>
            <a:stretch>
              <a:fillRect l="0" t="0" r="0" b="0"/>
            </a:stretch>
          </a:blipFill>
        </p:spPr>
      </p:sp>
      <p:sp>
        <p:nvSpPr>
          <p:cNvPr name="TextBox 13" id="13"/>
          <p:cNvSpPr txBox="true"/>
          <p:nvPr/>
        </p:nvSpPr>
        <p:spPr>
          <a:xfrm rot="0">
            <a:off x="5834011" y="211138"/>
            <a:ext cx="7515860" cy="817562"/>
          </a:xfrm>
          <a:prstGeom prst="rect">
            <a:avLst/>
          </a:prstGeom>
        </p:spPr>
        <p:txBody>
          <a:bodyPr anchor="t" rtlCol="false" tIns="0" lIns="0" bIns="0" rIns="0">
            <a:spAutoFit/>
          </a:bodyPr>
          <a:lstStyle/>
          <a:p>
            <a:pPr algn="l">
              <a:lnSpc>
                <a:spcPts val="6312"/>
              </a:lnSpc>
            </a:pPr>
            <a:r>
              <a:rPr lang="en-US" sz="4999" b="true">
                <a:solidFill>
                  <a:srgbClr val="231971"/>
                </a:solidFill>
                <a:latin typeface="Arimo Bold"/>
                <a:ea typeface="Arimo Bold"/>
                <a:cs typeface="Arimo Bold"/>
                <a:sym typeface="Arimo Bold"/>
              </a:rPr>
              <a:t>Results From the Project</a:t>
            </a:r>
          </a:p>
        </p:txBody>
      </p:sp>
      <p:sp>
        <p:nvSpPr>
          <p:cNvPr name="TextBox 14" id="14"/>
          <p:cNvSpPr txBox="true"/>
          <p:nvPr/>
        </p:nvSpPr>
        <p:spPr>
          <a:xfrm rot="0">
            <a:off x="4958677" y="4535466"/>
            <a:ext cx="523081" cy="320992"/>
          </a:xfrm>
          <a:prstGeom prst="rect">
            <a:avLst/>
          </a:prstGeom>
        </p:spPr>
        <p:txBody>
          <a:bodyPr anchor="t" rtlCol="false" tIns="0" lIns="0" bIns="0" rIns="0">
            <a:spAutoFit/>
          </a:bodyPr>
          <a:lstStyle/>
          <a:p>
            <a:pPr algn="l">
              <a:lnSpc>
                <a:spcPts val="2437"/>
              </a:lnSpc>
            </a:pPr>
            <a:r>
              <a:rPr lang="en-US" sz="1950" b="true">
                <a:solidFill>
                  <a:srgbClr val="2A2742"/>
                </a:solidFill>
                <a:latin typeface="Arimo Bold"/>
                <a:ea typeface="Arimo Bold"/>
                <a:cs typeface="Arimo Bold"/>
                <a:sym typeface="Arimo Bold"/>
              </a:rPr>
              <a:t>DAS</a:t>
            </a:r>
          </a:p>
        </p:txBody>
      </p:sp>
      <p:sp>
        <p:nvSpPr>
          <p:cNvPr name="TextBox 15" id="15"/>
          <p:cNvSpPr txBox="true"/>
          <p:nvPr/>
        </p:nvSpPr>
        <p:spPr>
          <a:xfrm rot="0">
            <a:off x="12760006" y="4389575"/>
            <a:ext cx="1533525" cy="329882"/>
          </a:xfrm>
          <a:prstGeom prst="rect">
            <a:avLst/>
          </a:prstGeom>
        </p:spPr>
        <p:txBody>
          <a:bodyPr anchor="t" rtlCol="false" tIns="0" lIns="0" bIns="0" rIns="0">
            <a:spAutoFit/>
          </a:bodyPr>
          <a:lstStyle/>
          <a:p>
            <a:pPr algn="ctr">
              <a:lnSpc>
                <a:spcPts val="2562"/>
              </a:lnSpc>
              <a:spcBef>
                <a:spcPct val="0"/>
              </a:spcBef>
            </a:pPr>
            <a:r>
              <a:rPr lang="en-US" b="true" sz="2050">
                <a:solidFill>
                  <a:srgbClr val="000000"/>
                </a:solidFill>
                <a:latin typeface="Arimo Bold"/>
                <a:ea typeface="Arimo Bold"/>
                <a:cs typeface="Arimo Bold"/>
                <a:sym typeface="Arimo Bold"/>
              </a:rPr>
              <a:t>pDAS image</a:t>
            </a:r>
          </a:p>
        </p:txBody>
      </p:sp>
      <p:sp>
        <p:nvSpPr>
          <p:cNvPr name="TextBox 16" id="16"/>
          <p:cNvSpPr txBox="true"/>
          <p:nvPr/>
        </p:nvSpPr>
        <p:spPr>
          <a:xfrm rot="0">
            <a:off x="6423875" y="9136063"/>
            <a:ext cx="6336131" cy="449262"/>
          </a:xfrm>
          <a:prstGeom prst="rect">
            <a:avLst/>
          </a:prstGeom>
        </p:spPr>
        <p:txBody>
          <a:bodyPr anchor="t" rtlCol="false" tIns="0" lIns="0" bIns="0" rIns="0">
            <a:spAutoFit/>
          </a:bodyPr>
          <a:lstStyle/>
          <a:p>
            <a:pPr algn="ctr">
              <a:lnSpc>
                <a:spcPts val="3437"/>
              </a:lnSpc>
              <a:spcBef>
                <a:spcPct val="0"/>
              </a:spcBef>
            </a:pPr>
            <a:r>
              <a:rPr lang="en-US" b="true" sz="2750">
                <a:solidFill>
                  <a:srgbClr val="000000"/>
                </a:solidFill>
                <a:latin typeface="Arimo Bold"/>
                <a:ea typeface="Arimo Bold"/>
                <a:cs typeface="Arimo Bold"/>
                <a:sym typeface="Arimo Bold"/>
              </a:rPr>
              <a:t>comparision between DAS and iMAP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5563850" y="9379744"/>
            <a:ext cx="2724150" cy="907256"/>
            <a:chOff x="0" y="0"/>
            <a:chExt cx="3632200" cy="1209675"/>
          </a:xfrm>
        </p:grpSpPr>
        <p:sp>
          <p:nvSpPr>
            <p:cNvPr name="Freeform 9" id="9"/>
            <p:cNvSpPr/>
            <p:nvPr/>
          </p:nvSpPr>
          <p:spPr>
            <a:xfrm flipH="false" flipV="false" rot="0">
              <a:off x="0" y="0"/>
              <a:ext cx="3632200" cy="1209675"/>
            </a:xfrm>
            <a:custGeom>
              <a:avLst/>
              <a:gdLst/>
              <a:ahLst/>
              <a:cxnLst/>
              <a:rect r="r" b="b" t="t" l="l"/>
              <a:pathLst>
                <a:path h="1209675" w="3632200">
                  <a:moveTo>
                    <a:pt x="0" y="0"/>
                  </a:moveTo>
                  <a:lnTo>
                    <a:pt x="3632200" y="0"/>
                  </a:lnTo>
                  <a:lnTo>
                    <a:pt x="3632200" y="1209675"/>
                  </a:lnTo>
                  <a:lnTo>
                    <a:pt x="0" y="1209675"/>
                  </a:lnTo>
                  <a:close/>
                </a:path>
              </a:pathLst>
            </a:custGeom>
            <a:solidFill>
              <a:srgbClr val="EEEEF4"/>
            </a:solidFill>
          </p:spPr>
        </p:sp>
      </p:grpSp>
      <p:sp>
        <p:nvSpPr>
          <p:cNvPr name="Freeform 10" id="10"/>
          <p:cNvSpPr/>
          <p:nvPr/>
        </p:nvSpPr>
        <p:spPr>
          <a:xfrm flipH="false" flipV="false" rot="0">
            <a:off x="1028700" y="2997698"/>
            <a:ext cx="7626449" cy="4547270"/>
          </a:xfrm>
          <a:custGeom>
            <a:avLst/>
            <a:gdLst/>
            <a:ahLst/>
            <a:cxnLst/>
            <a:rect r="r" b="b" t="t" l="l"/>
            <a:pathLst>
              <a:path h="4547270" w="7626449">
                <a:moveTo>
                  <a:pt x="0" y="0"/>
                </a:moveTo>
                <a:lnTo>
                  <a:pt x="7626449" y="0"/>
                </a:lnTo>
                <a:lnTo>
                  <a:pt x="7626449" y="4547271"/>
                </a:lnTo>
                <a:lnTo>
                  <a:pt x="0" y="4547271"/>
                </a:lnTo>
                <a:lnTo>
                  <a:pt x="0" y="0"/>
                </a:lnTo>
                <a:close/>
              </a:path>
            </a:pathLst>
          </a:custGeom>
          <a:blipFill>
            <a:blip r:embed="rId6"/>
            <a:stretch>
              <a:fillRect l="0" t="0" r="0" b="0"/>
            </a:stretch>
          </a:blipFill>
        </p:spPr>
      </p:sp>
      <p:sp>
        <p:nvSpPr>
          <p:cNvPr name="TextBox 11" id="11"/>
          <p:cNvSpPr txBox="true"/>
          <p:nvPr/>
        </p:nvSpPr>
        <p:spPr>
          <a:xfrm rot="0">
            <a:off x="992238" y="1124398"/>
            <a:ext cx="11624520" cy="943127"/>
          </a:xfrm>
          <a:prstGeom prst="rect">
            <a:avLst/>
          </a:prstGeom>
        </p:spPr>
        <p:txBody>
          <a:bodyPr anchor="t" rtlCol="false" tIns="0" lIns="0" bIns="0" rIns="0">
            <a:spAutoFit/>
          </a:bodyPr>
          <a:lstStyle/>
          <a:p>
            <a:pPr algn="l">
              <a:lnSpc>
                <a:spcPts val="6937"/>
              </a:lnSpc>
            </a:pPr>
            <a:r>
              <a:rPr lang="en-US" sz="5562" b="true">
                <a:solidFill>
                  <a:srgbClr val="231971"/>
                </a:solidFill>
                <a:latin typeface="Arimo Bold"/>
                <a:ea typeface="Arimo Bold"/>
                <a:cs typeface="Arimo Bold"/>
                <a:sym typeface="Arimo Bold"/>
              </a:rPr>
              <a:t>Quantitative Results: FWHM &amp; CNR</a:t>
            </a:r>
          </a:p>
        </p:txBody>
      </p:sp>
      <p:sp>
        <p:nvSpPr>
          <p:cNvPr name="TextBox 12" id="12"/>
          <p:cNvSpPr txBox="true"/>
          <p:nvPr/>
        </p:nvSpPr>
        <p:spPr>
          <a:xfrm rot="0">
            <a:off x="9499397" y="2738142"/>
            <a:ext cx="5336143" cy="449262"/>
          </a:xfrm>
          <a:prstGeom prst="rect">
            <a:avLst/>
          </a:prstGeom>
        </p:spPr>
        <p:txBody>
          <a:bodyPr anchor="t" rtlCol="false" tIns="0" lIns="0" bIns="0" rIns="0">
            <a:spAutoFit/>
          </a:bodyPr>
          <a:lstStyle/>
          <a:p>
            <a:pPr algn="l">
              <a:lnSpc>
                <a:spcPts val="3437"/>
              </a:lnSpc>
            </a:pPr>
            <a:r>
              <a:rPr lang="en-US" sz="2750" b="true">
                <a:solidFill>
                  <a:srgbClr val="231971"/>
                </a:solidFill>
                <a:latin typeface="Arimo Bold"/>
                <a:ea typeface="Arimo Bold"/>
                <a:cs typeface="Arimo Bold"/>
                <a:sym typeface="Arimo Bold"/>
              </a:rPr>
              <a:t>FWHM measures the Resolution</a:t>
            </a:r>
          </a:p>
        </p:txBody>
      </p:sp>
      <p:sp>
        <p:nvSpPr>
          <p:cNvPr name="TextBox 13" id="13"/>
          <p:cNvSpPr txBox="true"/>
          <p:nvPr/>
        </p:nvSpPr>
        <p:spPr>
          <a:xfrm rot="0">
            <a:off x="9499397" y="3397891"/>
            <a:ext cx="7805890" cy="1465659"/>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Full Width at Half Maximum measures the physical spot size. IMAP achieves the </a:t>
            </a:r>
            <a:r>
              <a:rPr lang="en-US" sz="2187" b="true">
                <a:solidFill>
                  <a:srgbClr val="2A2742"/>
                </a:solidFill>
                <a:latin typeface="Arimo Bold"/>
                <a:ea typeface="Arimo Bold"/>
                <a:cs typeface="Arimo Bold"/>
                <a:sym typeface="Arimo Bold"/>
              </a:rPr>
              <a:t>lowest FWHM</a:t>
            </a:r>
            <a:r>
              <a:rPr lang="en-US" sz="2187">
                <a:solidFill>
                  <a:srgbClr val="2A2742"/>
                </a:solidFill>
                <a:latin typeface="Arimo"/>
                <a:ea typeface="Arimo"/>
                <a:cs typeface="Arimo"/>
                <a:sym typeface="Arimo"/>
              </a:rPr>
              <a:t>, confirming the tightest, most localized target.</a:t>
            </a:r>
          </a:p>
        </p:txBody>
      </p:sp>
      <p:sp>
        <p:nvSpPr>
          <p:cNvPr name="TextBox 14" id="14"/>
          <p:cNvSpPr txBox="true"/>
          <p:nvPr/>
        </p:nvSpPr>
        <p:spPr>
          <a:xfrm rot="0">
            <a:off x="9499397" y="5108972"/>
            <a:ext cx="2735937" cy="449262"/>
          </a:xfrm>
          <a:prstGeom prst="rect">
            <a:avLst/>
          </a:prstGeom>
        </p:spPr>
        <p:txBody>
          <a:bodyPr anchor="t" rtlCol="false" tIns="0" lIns="0" bIns="0" rIns="0">
            <a:spAutoFit/>
          </a:bodyPr>
          <a:lstStyle/>
          <a:p>
            <a:pPr algn="l">
              <a:lnSpc>
                <a:spcPts val="3437"/>
              </a:lnSpc>
            </a:pPr>
            <a:r>
              <a:rPr lang="en-US" sz="2750" b="true">
                <a:solidFill>
                  <a:srgbClr val="231971"/>
                </a:solidFill>
                <a:latin typeface="Arimo Bold"/>
                <a:ea typeface="Arimo Bold"/>
                <a:cs typeface="Arimo Bold"/>
                <a:sym typeface="Arimo Bold"/>
              </a:rPr>
              <a:t>CNR with Clarity</a:t>
            </a:r>
          </a:p>
        </p:txBody>
      </p:sp>
      <p:sp>
        <p:nvSpPr>
          <p:cNvPr name="TextBox 15" id="15"/>
          <p:cNvSpPr txBox="true"/>
          <p:nvPr/>
        </p:nvSpPr>
        <p:spPr>
          <a:xfrm rot="0">
            <a:off x="9499397" y="5768731"/>
            <a:ext cx="7805890" cy="1465659"/>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Contrast-to-Noise Ratio measures how distinctly the target stands out from background. IMAP's </a:t>
            </a:r>
            <a:r>
              <a:rPr lang="en-US" sz="2187" b="true">
                <a:solidFill>
                  <a:srgbClr val="2A2742"/>
                </a:solidFill>
                <a:latin typeface="Arimo Bold"/>
                <a:ea typeface="Arimo Bold"/>
                <a:cs typeface="Arimo Bold"/>
                <a:sym typeface="Arimo Bold"/>
              </a:rPr>
              <a:t>highest CNR</a:t>
            </a:r>
            <a:r>
              <a:rPr lang="en-US" sz="2187">
                <a:solidFill>
                  <a:srgbClr val="2A2742"/>
                </a:solidFill>
                <a:latin typeface="Arimo"/>
                <a:ea typeface="Arimo"/>
                <a:cs typeface="Arimo"/>
                <a:sym typeface="Arimo"/>
              </a:rPr>
              <a:t> confirms aggressive noise suppression.</a:t>
            </a:r>
          </a:p>
        </p:txBody>
      </p:sp>
      <p:sp>
        <p:nvSpPr>
          <p:cNvPr name="TextBox 16" id="16"/>
          <p:cNvSpPr txBox="true"/>
          <p:nvPr/>
        </p:nvSpPr>
        <p:spPr>
          <a:xfrm rot="0">
            <a:off x="9499397" y="7384704"/>
            <a:ext cx="7805890" cy="1465659"/>
          </a:xfrm>
          <a:prstGeom prst="rect">
            <a:avLst/>
          </a:prstGeom>
        </p:spPr>
        <p:txBody>
          <a:bodyPr anchor="t" rtlCol="false" tIns="0" lIns="0" bIns="0" rIns="0">
            <a:spAutoFit/>
          </a:bodyPr>
          <a:lstStyle/>
          <a:p>
            <a:pPr algn="l">
              <a:lnSpc>
                <a:spcPts val="3562"/>
              </a:lnSpc>
            </a:pPr>
            <a:r>
              <a:rPr lang="en-US" sz="2187">
                <a:solidFill>
                  <a:srgbClr val="2A2742"/>
                </a:solidFill>
                <a:latin typeface="Arimo"/>
                <a:ea typeface="Arimo"/>
                <a:cs typeface="Arimo"/>
                <a:sym typeface="Arimo"/>
              </a:rPr>
              <a:t>Together, these metrics demonstrate that upgrading from DAS → p-DAS → IMAP yields </a:t>
            </a:r>
            <a:r>
              <a:rPr lang="en-US" sz="2187" b="true">
                <a:solidFill>
                  <a:srgbClr val="2A2742"/>
                </a:solidFill>
                <a:latin typeface="Arimo Bold"/>
                <a:ea typeface="Arimo Bold"/>
                <a:cs typeface="Arimo Bold"/>
                <a:sym typeface="Arimo Bold"/>
              </a:rPr>
              <a:t>progressively sharper, cleaner images</a:t>
            </a:r>
            <a:r>
              <a:rPr lang="en-US" sz="2187">
                <a:solidFill>
                  <a:srgbClr val="2A2742"/>
                </a:solidFill>
                <a:latin typeface="Arimo"/>
                <a:ea typeface="Arimo"/>
                <a:cs typeface="Arimo"/>
                <a:sym typeface="Arimo"/>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sp>
        <p:nvSpPr>
          <p:cNvPr name="TextBox 8" id="8"/>
          <p:cNvSpPr txBox="true"/>
          <p:nvPr/>
        </p:nvSpPr>
        <p:spPr>
          <a:xfrm rot="0">
            <a:off x="899217" y="745036"/>
            <a:ext cx="7832765" cy="817562"/>
          </a:xfrm>
          <a:prstGeom prst="rect">
            <a:avLst/>
          </a:prstGeom>
        </p:spPr>
        <p:txBody>
          <a:bodyPr anchor="t" rtlCol="false" tIns="0" lIns="0" bIns="0" rIns="0">
            <a:spAutoFit/>
          </a:bodyPr>
          <a:lstStyle/>
          <a:p>
            <a:pPr algn="l">
              <a:lnSpc>
                <a:spcPts val="6312"/>
              </a:lnSpc>
            </a:pPr>
            <a:r>
              <a:rPr lang="en-US" sz="4999" b="true">
                <a:solidFill>
                  <a:srgbClr val="231971"/>
                </a:solidFill>
                <a:latin typeface="Arimo Bold"/>
                <a:ea typeface="Arimo Bold"/>
                <a:cs typeface="Arimo Bold"/>
                <a:sym typeface="Arimo Bold"/>
              </a:rPr>
              <a:t>Results and Future Scope</a:t>
            </a:r>
          </a:p>
        </p:txBody>
      </p:sp>
      <p:sp>
        <p:nvSpPr>
          <p:cNvPr name="TextBox 9" id="9"/>
          <p:cNvSpPr txBox="true"/>
          <p:nvPr/>
        </p:nvSpPr>
        <p:spPr>
          <a:xfrm rot="0">
            <a:off x="899217" y="2158451"/>
            <a:ext cx="3211859" cy="429968"/>
          </a:xfrm>
          <a:prstGeom prst="rect">
            <a:avLst/>
          </a:prstGeom>
        </p:spPr>
        <p:txBody>
          <a:bodyPr anchor="t" rtlCol="false" tIns="0" lIns="0" bIns="0" rIns="0">
            <a:spAutoFit/>
          </a:bodyPr>
          <a:lstStyle/>
          <a:p>
            <a:pPr algn="l">
              <a:lnSpc>
                <a:spcPts val="3124"/>
              </a:lnSpc>
            </a:pPr>
            <a:r>
              <a:rPr lang="en-US" sz="2499" b="true">
                <a:solidFill>
                  <a:srgbClr val="231971"/>
                </a:solidFill>
                <a:latin typeface="Arimo Bold"/>
                <a:ea typeface="Arimo Bold"/>
                <a:cs typeface="Arimo Bold"/>
                <a:sym typeface="Arimo Bold"/>
              </a:rPr>
              <a:t>Key Takeaway</a:t>
            </a:r>
          </a:p>
        </p:txBody>
      </p:sp>
      <p:sp>
        <p:nvSpPr>
          <p:cNvPr name="TextBox 10" id="10"/>
          <p:cNvSpPr txBox="true"/>
          <p:nvPr/>
        </p:nvSpPr>
        <p:spPr>
          <a:xfrm rot="0">
            <a:off x="899217" y="2754516"/>
            <a:ext cx="10498779" cy="744537"/>
          </a:xfrm>
          <a:prstGeom prst="rect">
            <a:avLst/>
          </a:prstGeom>
        </p:spPr>
        <p:txBody>
          <a:bodyPr anchor="t" rtlCol="false" tIns="0" lIns="0" bIns="0" rIns="0">
            <a:spAutoFit/>
          </a:bodyPr>
          <a:lstStyle/>
          <a:p>
            <a:pPr algn="l">
              <a:lnSpc>
                <a:spcPts val="3062"/>
              </a:lnSpc>
            </a:pPr>
            <a:r>
              <a:rPr lang="en-US" sz="2000">
                <a:solidFill>
                  <a:srgbClr val="2A2742"/>
                </a:solidFill>
                <a:latin typeface="Arimo"/>
                <a:ea typeface="Arimo"/>
                <a:cs typeface="Arimo"/>
                <a:sym typeface="Arimo"/>
              </a:rPr>
              <a:t>The target shrinks to a </a:t>
            </a:r>
            <a:r>
              <a:rPr lang="en-US" sz="2000" b="true">
                <a:solidFill>
                  <a:srgbClr val="2A2742"/>
                </a:solidFill>
                <a:latin typeface="Arimo Bold"/>
                <a:ea typeface="Arimo Bold"/>
                <a:cs typeface="Arimo Bold"/>
                <a:sym typeface="Arimo Bold"/>
              </a:rPr>
              <a:t>precise dot</a:t>
            </a:r>
            <a:r>
              <a:rPr lang="en-US" sz="2000">
                <a:solidFill>
                  <a:srgbClr val="2A2742"/>
                </a:solidFill>
                <a:latin typeface="Arimo"/>
                <a:ea typeface="Arimo"/>
                <a:cs typeface="Arimo"/>
                <a:sym typeface="Arimo"/>
              </a:rPr>
              <a:t> and surrounding gray artifacts disappear entirely in the IMAP image — validating the full pipeline.</a:t>
            </a:r>
          </a:p>
        </p:txBody>
      </p:sp>
      <p:grpSp>
        <p:nvGrpSpPr>
          <p:cNvPr name="Group 11" id="11"/>
          <p:cNvGrpSpPr/>
          <p:nvPr/>
        </p:nvGrpSpPr>
        <p:grpSpPr>
          <a:xfrm rot="0">
            <a:off x="899217" y="5755908"/>
            <a:ext cx="10498779" cy="1499292"/>
            <a:chOff x="0" y="0"/>
            <a:chExt cx="13998372" cy="1999056"/>
          </a:xfrm>
        </p:grpSpPr>
        <p:sp>
          <p:nvSpPr>
            <p:cNvPr name="TextBox 12" id="12"/>
            <p:cNvSpPr txBox="true"/>
            <p:nvPr/>
          </p:nvSpPr>
          <p:spPr>
            <a:xfrm rot="0">
              <a:off x="0" y="-28575"/>
              <a:ext cx="4282478" cy="563766"/>
            </a:xfrm>
            <a:prstGeom prst="rect">
              <a:avLst/>
            </a:prstGeom>
          </p:spPr>
          <p:txBody>
            <a:bodyPr anchor="t" rtlCol="false" tIns="0" lIns="0" bIns="0" rIns="0">
              <a:spAutoFit/>
            </a:bodyPr>
            <a:lstStyle/>
            <a:p>
              <a:pPr algn="l">
                <a:lnSpc>
                  <a:spcPts val="3124"/>
                </a:lnSpc>
              </a:pPr>
              <a:r>
                <a:rPr lang="en-US" sz="2499" b="true">
                  <a:solidFill>
                    <a:srgbClr val="231971"/>
                  </a:solidFill>
                  <a:latin typeface="Arimo Bold"/>
                  <a:ea typeface="Arimo Bold"/>
                  <a:cs typeface="Arimo Bold"/>
                  <a:sym typeface="Arimo Bold"/>
                </a:rPr>
                <a:t>Future Scope</a:t>
              </a:r>
            </a:p>
          </p:txBody>
        </p:sp>
        <p:sp>
          <p:nvSpPr>
            <p:cNvPr name="TextBox 13" id="13"/>
            <p:cNvSpPr txBox="true"/>
            <p:nvPr/>
          </p:nvSpPr>
          <p:spPr>
            <a:xfrm rot="0">
              <a:off x="0" y="778866"/>
              <a:ext cx="13998372" cy="1220191"/>
            </a:xfrm>
            <a:prstGeom prst="rect">
              <a:avLst/>
            </a:prstGeom>
          </p:spPr>
          <p:txBody>
            <a:bodyPr anchor="t" rtlCol="false" tIns="0" lIns="0" bIns="0" rIns="0">
              <a:spAutoFit/>
            </a:bodyPr>
            <a:lstStyle/>
            <a:p>
              <a:pPr algn="l" marL="301625" indent="-150812" lvl="1">
                <a:lnSpc>
                  <a:spcPts val="3062"/>
                </a:lnSpc>
                <a:buFont typeface="Arial"/>
                <a:buChar char="•"/>
              </a:pPr>
              <a:r>
                <a:rPr lang="en-US" sz="2000">
                  <a:solidFill>
                    <a:srgbClr val="2A2742"/>
                  </a:solidFill>
                  <a:latin typeface="Arimo"/>
                  <a:ea typeface="Arimo"/>
                  <a:cs typeface="Arimo"/>
                  <a:sym typeface="Arimo"/>
                </a:rPr>
                <a:t>Test on in-vivo human clinical data</a:t>
              </a:r>
            </a:p>
            <a:p>
              <a:pPr algn="l" marL="301625" indent="-150812" lvl="1">
                <a:lnSpc>
                  <a:spcPts val="3062"/>
                </a:lnSpc>
                <a:buFont typeface="Arial"/>
                <a:buChar char="•"/>
              </a:pPr>
              <a:r>
                <a:rPr lang="en-US" sz="2000">
                  <a:solidFill>
                    <a:srgbClr val="2A2742"/>
                  </a:solidFill>
                  <a:latin typeface="Arimo"/>
                  <a:ea typeface="Arimo"/>
                  <a:cs typeface="Arimo"/>
                  <a:sym typeface="Arimo"/>
                </a:rPr>
                <a:t>Handle tissue attenuation, motion artifacts, and probe misalignment</a:t>
              </a:r>
            </a:p>
          </p:txBody>
        </p:sp>
      </p:grpSp>
      <p:sp>
        <p:nvSpPr>
          <p:cNvPr name="TextBox 14" id="14"/>
          <p:cNvSpPr txBox="true"/>
          <p:nvPr/>
        </p:nvSpPr>
        <p:spPr>
          <a:xfrm rot="0">
            <a:off x="899217" y="7607625"/>
            <a:ext cx="15397753" cy="850402"/>
          </a:xfrm>
          <a:prstGeom prst="rect">
            <a:avLst/>
          </a:prstGeom>
        </p:spPr>
        <p:txBody>
          <a:bodyPr anchor="t" rtlCol="false" tIns="0" lIns="0" bIns="0" rIns="0">
            <a:spAutoFit/>
          </a:bodyPr>
          <a:lstStyle/>
          <a:p>
            <a:pPr algn="l">
              <a:lnSpc>
                <a:spcPts val="3062"/>
              </a:lnSpc>
            </a:pPr>
            <a:r>
              <a:rPr lang="en-US" sz="2000" b="true">
                <a:solidFill>
                  <a:srgbClr val="000000"/>
                </a:solidFill>
                <a:latin typeface="Arimo Bold"/>
                <a:ea typeface="Arimo Bold"/>
                <a:cs typeface="Arimo Bold"/>
                <a:sym typeface="Arimo Bold"/>
              </a:rPr>
              <a:t>Conclusion:</a:t>
            </a:r>
            <a:r>
              <a:rPr lang="en-US" sz="2000">
                <a:solidFill>
                  <a:srgbClr val="000000"/>
                </a:solidFill>
                <a:latin typeface="Arimo"/>
                <a:ea typeface="Arimo"/>
                <a:cs typeface="Arimo"/>
                <a:sym typeface="Arimo"/>
              </a:rPr>
              <a:t> Software-side signal processing is a powerful, cost-effective path to advancing medical imaging clarity — no hardware upgrade required.</a:t>
            </a:r>
          </a:p>
        </p:txBody>
      </p:sp>
      <p:grpSp>
        <p:nvGrpSpPr>
          <p:cNvPr name="Group 15" id="15"/>
          <p:cNvGrpSpPr/>
          <p:nvPr/>
        </p:nvGrpSpPr>
        <p:grpSpPr>
          <a:xfrm rot="0">
            <a:off x="15563850" y="9379744"/>
            <a:ext cx="2724150" cy="907256"/>
            <a:chOff x="0" y="0"/>
            <a:chExt cx="3632200" cy="1209675"/>
          </a:xfrm>
        </p:grpSpPr>
        <p:sp>
          <p:nvSpPr>
            <p:cNvPr name="Freeform 16" id="16"/>
            <p:cNvSpPr/>
            <p:nvPr/>
          </p:nvSpPr>
          <p:spPr>
            <a:xfrm flipH="false" flipV="false" rot="0">
              <a:off x="0" y="0"/>
              <a:ext cx="3632200" cy="1209675"/>
            </a:xfrm>
            <a:custGeom>
              <a:avLst/>
              <a:gdLst/>
              <a:ahLst/>
              <a:cxnLst/>
              <a:rect r="r" b="b" t="t" l="l"/>
              <a:pathLst>
                <a:path h="1209675" w="3632200">
                  <a:moveTo>
                    <a:pt x="0" y="0"/>
                  </a:moveTo>
                  <a:lnTo>
                    <a:pt x="3632200" y="0"/>
                  </a:lnTo>
                  <a:lnTo>
                    <a:pt x="3632200" y="1209675"/>
                  </a:lnTo>
                  <a:lnTo>
                    <a:pt x="0" y="1209675"/>
                  </a:lnTo>
                  <a:close/>
                </a:path>
              </a:pathLst>
            </a:custGeom>
            <a:solidFill>
              <a:srgbClr val="EEEEF4"/>
            </a:solidFill>
          </p:spPr>
        </p:sp>
      </p:grpSp>
      <p:grpSp>
        <p:nvGrpSpPr>
          <p:cNvPr name="Group 17" id="17"/>
          <p:cNvGrpSpPr/>
          <p:nvPr/>
        </p:nvGrpSpPr>
        <p:grpSpPr>
          <a:xfrm rot="0">
            <a:off x="899217" y="3909132"/>
            <a:ext cx="15629385" cy="1418634"/>
            <a:chOff x="0" y="0"/>
            <a:chExt cx="20839179" cy="1891513"/>
          </a:xfrm>
        </p:grpSpPr>
        <p:grpSp>
          <p:nvGrpSpPr>
            <p:cNvPr name="Group 18" id="18"/>
            <p:cNvGrpSpPr/>
            <p:nvPr/>
          </p:nvGrpSpPr>
          <p:grpSpPr>
            <a:xfrm rot="0">
              <a:off x="0" y="0"/>
              <a:ext cx="5169063" cy="1891513"/>
              <a:chOff x="0" y="0"/>
              <a:chExt cx="5169063" cy="1891513"/>
            </a:xfrm>
          </p:grpSpPr>
          <p:sp>
            <p:nvSpPr>
              <p:cNvPr name="Freeform 19" id="19"/>
              <p:cNvSpPr/>
              <p:nvPr/>
            </p:nvSpPr>
            <p:spPr>
              <a:xfrm flipH="false" flipV="false" rot="0">
                <a:off x="0" y="0"/>
                <a:ext cx="5169087" cy="1891538"/>
              </a:xfrm>
              <a:custGeom>
                <a:avLst/>
                <a:gdLst/>
                <a:ahLst/>
                <a:cxnLst/>
                <a:rect r="r" b="b" t="t" l="l"/>
                <a:pathLst>
                  <a:path h="1891538" w="5169087">
                    <a:moveTo>
                      <a:pt x="0" y="143891"/>
                    </a:moveTo>
                    <a:cubicBezTo>
                      <a:pt x="0" y="64389"/>
                      <a:pt x="15138" y="0"/>
                      <a:pt x="33830" y="0"/>
                    </a:cubicBezTo>
                    <a:lnTo>
                      <a:pt x="5135239" y="0"/>
                    </a:lnTo>
                    <a:cubicBezTo>
                      <a:pt x="5153930" y="0"/>
                      <a:pt x="5169087" y="64389"/>
                      <a:pt x="5169087" y="143891"/>
                    </a:cubicBezTo>
                    <a:lnTo>
                      <a:pt x="5169087" y="1747647"/>
                    </a:lnTo>
                    <a:cubicBezTo>
                      <a:pt x="5169087" y="1827149"/>
                      <a:pt x="5153930" y="1891538"/>
                      <a:pt x="5135239" y="1891538"/>
                    </a:cubicBezTo>
                    <a:lnTo>
                      <a:pt x="33830" y="1891538"/>
                    </a:lnTo>
                    <a:cubicBezTo>
                      <a:pt x="15138" y="1891538"/>
                      <a:pt x="0" y="1827149"/>
                      <a:pt x="0" y="1747647"/>
                    </a:cubicBezTo>
                    <a:close/>
                  </a:path>
                </a:pathLst>
              </a:custGeom>
              <a:solidFill>
                <a:srgbClr val="AFCBF8"/>
              </a:solidFill>
            </p:spPr>
          </p:sp>
        </p:grpSp>
        <p:sp>
          <p:nvSpPr>
            <p:cNvPr name="TextBox 20" id="20"/>
            <p:cNvSpPr txBox="true"/>
            <p:nvPr/>
          </p:nvSpPr>
          <p:spPr>
            <a:xfrm rot="0">
              <a:off x="278266" y="694267"/>
              <a:ext cx="4890797" cy="421217"/>
            </a:xfrm>
            <a:prstGeom prst="rect">
              <a:avLst/>
            </a:prstGeom>
          </p:spPr>
          <p:txBody>
            <a:bodyPr anchor="t" rtlCol="false" tIns="0" lIns="0" bIns="0" rIns="0">
              <a:spAutoFit/>
            </a:bodyPr>
            <a:lstStyle/>
            <a:p>
              <a:pPr algn="ctr">
                <a:lnSpc>
                  <a:spcPts val="2500"/>
                </a:lnSpc>
                <a:spcBef>
                  <a:spcPct val="0"/>
                </a:spcBef>
              </a:pPr>
              <a:r>
                <a:rPr lang="en-US" sz="2000">
                  <a:solidFill>
                    <a:srgbClr val="000000"/>
                  </a:solidFill>
                  <a:latin typeface="Arimo"/>
                  <a:ea typeface="Arimo"/>
                  <a:cs typeface="Arimo"/>
                  <a:sym typeface="Arimo"/>
                </a:rPr>
                <a:t>DAS FWHM: 0.197 mm </a:t>
              </a:r>
            </a:p>
          </p:txBody>
        </p:sp>
        <p:grpSp>
          <p:nvGrpSpPr>
            <p:cNvPr name="Group 21" id="21"/>
            <p:cNvGrpSpPr/>
            <p:nvPr/>
          </p:nvGrpSpPr>
          <p:grpSpPr>
            <a:xfrm rot="0">
              <a:off x="5497762" y="0"/>
              <a:ext cx="9845438" cy="1891513"/>
              <a:chOff x="0" y="0"/>
              <a:chExt cx="9845438" cy="1891513"/>
            </a:xfrm>
          </p:grpSpPr>
          <p:sp>
            <p:nvSpPr>
              <p:cNvPr name="Freeform 22" id="22"/>
              <p:cNvSpPr/>
              <p:nvPr/>
            </p:nvSpPr>
            <p:spPr>
              <a:xfrm flipH="false" flipV="false" rot="0">
                <a:off x="0" y="0"/>
                <a:ext cx="9845463" cy="1891538"/>
              </a:xfrm>
              <a:custGeom>
                <a:avLst/>
                <a:gdLst/>
                <a:ahLst/>
                <a:cxnLst/>
                <a:rect r="r" b="b" t="t" l="l"/>
                <a:pathLst>
                  <a:path h="1891538" w="9845463">
                    <a:moveTo>
                      <a:pt x="0" y="143891"/>
                    </a:moveTo>
                    <a:cubicBezTo>
                      <a:pt x="0" y="64389"/>
                      <a:pt x="28834" y="0"/>
                      <a:pt x="64435" y="0"/>
                    </a:cubicBezTo>
                    <a:lnTo>
                      <a:pt x="9781015" y="0"/>
                    </a:lnTo>
                    <a:cubicBezTo>
                      <a:pt x="9816616" y="0"/>
                      <a:pt x="9845463" y="64389"/>
                      <a:pt x="9845463" y="143891"/>
                    </a:cubicBezTo>
                    <a:lnTo>
                      <a:pt x="9845463" y="1747647"/>
                    </a:lnTo>
                    <a:cubicBezTo>
                      <a:pt x="9845463" y="1827149"/>
                      <a:pt x="9816616" y="1891538"/>
                      <a:pt x="9781015" y="1891538"/>
                    </a:cubicBezTo>
                    <a:lnTo>
                      <a:pt x="64435" y="1891538"/>
                    </a:lnTo>
                    <a:cubicBezTo>
                      <a:pt x="28834" y="1891538"/>
                      <a:pt x="0" y="1827149"/>
                      <a:pt x="0" y="1747647"/>
                    </a:cubicBezTo>
                    <a:close/>
                  </a:path>
                </a:pathLst>
              </a:custGeom>
              <a:solidFill>
                <a:srgbClr val="AFCBF8"/>
              </a:solidFill>
            </p:spPr>
          </p:sp>
        </p:grpSp>
        <p:sp>
          <p:nvSpPr>
            <p:cNvPr name="TextBox 23" id="23"/>
            <p:cNvSpPr txBox="true"/>
            <p:nvPr/>
          </p:nvSpPr>
          <p:spPr>
            <a:xfrm rot="0">
              <a:off x="5774200" y="694267"/>
              <a:ext cx="9608464" cy="421217"/>
            </a:xfrm>
            <a:prstGeom prst="rect">
              <a:avLst/>
            </a:prstGeom>
          </p:spPr>
          <p:txBody>
            <a:bodyPr anchor="t" rtlCol="false" tIns="0" lIns="0" bIns="0" rIns="0">
              <a:spAutoFit/>
            </a:bodyPr>
            <a:lstStyle/>
            <a:p>
              <a:pPr algn="ctr">
                <a:lnSpc>
                  <a:spcPts val="2500"/>
                </a:lnSpc>
                <a:spcBef>
                  <a:spcPct val="0"/>
                </a:spcBef>
              </a:pPr>
              <a:r>
                <a:rPr lang="en-US" sz="2000">
                  <a:solidFill>
                    <a:srgbClr val="000000"/>
                  </a:solidFill>
                  <a:latin typeface="Arimo"/>
                  <a:ea typeface="Arimo"/>
                  <a:cs typeface="Arimo"/>
                  <a:sym typeface="Arimo"/>
                </a:rPr>
                <a:t>IMAP FWHM: 0.197 mm (Resolution Improved!)</a:t>
              </a:r>
            </a:p>
          </p:txBody>
        </p:sp>
        <p:grpSp>
          <p:nvGrpSpPr>
            <p:cNvPr name="Group 24" id="24"/>
            <p:cNvGrpSpPr/>
            <p:nvPr/>
          </p:nvGrpSpPr>
          <p:grpSpPr>
            <a:xfrm rot="0">
              <a:off x="15670117" y="0"/>
              <a:ext cx="5169063" cy="1891513"/>
              <a:chOff x="0" y="0"/>
              <a:chExt cx="5169063" cy="1891513"/>
            </a:xfrm>
          </p:grpSpPr>
          <p:sp>
            <p:nvSpPr>
              <p:cNvPr name="Freeform 25" id="25"/>
              <p:cNvSpPr/>
              <p:nvPr/>
            </p:nvSpPr>
            <p:spPr>
              <a:xfrm flipH="false" flipV="false" rot="0">
                <a:off x="0" y="0"/>
                <a:ext cx="5169087" cy="1891538"/>
              </a:xfrm>
              <a:custGeom>
                <a:avLst/>
                <a:gdLst/>
                <a:ahLst/>
                <a:cxnLst/>
                <a:rect r="r" b="b" t="t" l="l"/>
                <a:pathLst>
                  <a:path h="1891538" w="5169087">
                    <a:moveTo>
                      <a:pt x="0" y="143891"/>
                    </a:moveTo>
                    <a:cubicBezTo>
                      <a:pt x="0" y="64389"/>
                      <a:pt x="15138" y="0"/>
                      <a:pt x="33830" y="0"/>
                    </a:cubicBezTo>
                    <a:lnTo>
                      <a:pt x="5135239" y="0"/>
                    </a:lnTo>
                    <a:cubicBezTo>
                      <a:pt x="5153930" y="0"/>
                      <a:pt x="5169087" y="64389"/>
                      <a:pt x="5169087" y="143891"/>
                    </a:cubicBezTo>
                    <a:lnTo>
                      <a:pt x="5169087" y="1747647"/>
                    </a:lnTo>
                    <a:cubicBezTo>
                      <a:pt x="5169087" y="1827149"/>
                      <a:pt x="5153930" y="1891538"/>
                      <a:pt x="5135239" y="1891538"/>
                    </a:cubicBezTo>
                    <a:lnTo>
                      <a:pt x="33830" y="1891538"/>
                    </a:lnTo>
                    <a:cubicBezTo>
                      <a:pt x="15138" y="1891538"/>
                      <a:pt x="0" y="1827149"/>
                      <a:pt x="0" y="1747647"/>
                    </a:cubicBezTo>
                    <a:close/>
                  </a:path>
                </a:pathLst>
              </a:custGeom>
              <a:solidFill>
                <a:srgbClr val="AFCBF8"/>
              </a:solidFill>
            </p:spPr>
          </p:sp>
        </p:grpSp>
        <p:sp>
          <p:nvSpPr>
            <p:cNvPr name="TextBox 26" id="26"/>
            <p:cNvSpPr txBox="true"/>
            <p:nvPr/>
          </p:nvSpPr>
          <p:spPr>
            <a:xfrm rot="0">
              <a:off x="15992265" y="694267"/>
              <a:ext cx="4274109" cy="421217"/>
            </a:xfrm>
            <a:prstGeom prst="rect">
              <a:avLst/>
            </a:prstGeom>
          </p:spPr>
          <p:txBody>
            <a:bodyPr anchor="t" rtlCol="false" tIns="0" lIns="0" bIns="0" rIns="0">
              <a:spAutoFit/>
            </a:bodyPr>
            <a:lstStyle/>
            <a:p>
              <a:pPr algn="ctr">
                <a:lnSpc>
                  <a:spcPts val="2500"/>
                </a:lnSpc>
                <a:spcBef>
                  <a:spcPct val="0"/>
                </a:spcBef>
              </a:pPr>
              <a:r>
                <a:rPr lang="en-US" sz="2000">
                  <a:solidFill>
                    <a:srgbClr val="000000"/>
                  </a:solidFill>
                  <a:latin typeface="Arimo"/>
                  <a:ea typeface="Arimo"/>
                  <a:cs typeface="Arimo"/>
                  <a:sym typeface="Arimo"/>
                </a:rPr>
                <a:t>IMAP CNR: 73.17 dB</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AFA">
                <a:alpha val="90196"/>
              </a:srgbClr>
            </a:solidFill>
          </p:spPr>
        </p:sp>
      </p:grpSp>
      <p:sp>
        <p:nvSpPr>
          <p:cNvPr name="TextBox 4" id="4"/>
          <p:cNvSpPr txBox="true"/>
          <p:nvPr/>
        </p:nvSpPr>
        <p:spPr>
          <a:xfrm rot="0">
            <a:off x="163773" y="2252639"/>
            <a:ext cx="18288000" cy="3527425"/>
          </a:xfrm>
          <a:prstGeom prst="rect">
            <a:avLst/>
          </a:prstGeom>
        </p:spPr>
        <p:txBody>
          <a:bodyPr anchor="t" rtlCol="false" tIns="0" lIns="0" bIns="0" rIns="0">
            <a:spAutoFit/>
          </a:bodyPr>
          <a:lstStyle/>
          <a:p>
            <a:pPr algn="l" marL="539749" indent="-269875" lvl="1">
              <a:lnSpc>
                <a:spcPts val="3124"/>
              </a:lnSpc>
              <a:buFont typeface="Arial"/>
              <a:buChar char="•"/>
            </a:pPr>
            <a:r>
              <a:rPr lang="en-US" b="true" sz="2499">
                <a:solidFill>
                  <a:srgbClr val="000000"/>
                </a:solidFill>
                <a:latin typeface="Arimo Bold"/>
                <a:ea typeface="Arimo Bold"/>
                <a:cs typeface="Arimo Bold"/>
                <a:sym typeface="Arimo Bold"/>
              </a:rPr>
              <a:t>Reference on pDAS beamf</a:t>
            </a:r>
            <a:r>
              <a:rPr lang="en-US" b="true" sz="2499">
                <a:solidFill>
                  <a:srgbClr val="000000"/>
                </a:solidFill>
                <a:latin typeface="Arimo Bold"/>
                <a:ea typeface="Arimo Bold"/>
                <a:cs typeface="Arimo Bold"/>
                <a:sym typeface="Arimo Bold"/>
              </a:rPr>
              <a:t>orming: </a:t>
            </a:r>
            <a:r>
              <a:rPr lang="en-US" sz="2499">
                <a:solidFill>
                  <a:srgbClr val="000000"/>
                </a:solidFill>
                <a:latin typeface="Arimo"/>
                <a:ea typeface="Arimo"/>
                <a:cs typeface="Arimo"/>
                <a:sym typeface="Arimo"/>
              </a:rPr>
              <a:t>M.; Varray, F.; Béra, J.-C.; Cachard, C.; Nicolas, B. A Nonlinear Beamformer Based on p-th Root Compression—Application to Plane Wave Ultrasound Imaging. Appl. Sci. 2018, 8, 599. </a:t>
            </a:r>
            <a:r>
              <a:rPr lang="en-US" sz="2499" u="sng">
                <a:solidFill>
                  <a:srgbClr val="000000"/>
                </a:solidFill>
                <a:latin typeface="Arimo"/>
                <a:ea typeface="Arimo"/>
                <a:cs typeface="Arimo"/>
                <a:sym typeface="Arimo"/>
                <a:hlinkClick r:id="rId2" tooltip="https://doi.org/10.3390/app8040599"/>
              </a:rPr>
              <a:t>https://doi.org/10.3390/app8040599</a:t>
            </a:r>
          </a:p>
          <a:p>
            <a:pPr algn="ctr">
              <a:lnSpc>
                <a:spcPts val="3124"/>
              </a:lnSpc>
              <a:spcBef>
                <a:spcPct val="0"/>
              </a:spcBef>
            </a:pPr>
          </a:p>
          <a:p>
            <a:pPr algn="l" marL="539749" indent="-269875" lvl="1">
              <a:lnSpc>
                <a:spcPts val="3124"/>
              </a:lnSpc>
              <a:buFont typeface="Arial"/>
              <a:buChar char="•"/>
            </a:pPr>
            <a:r>
              <a:rPr lang="en-US" b="true" sz="2499">
                <a:solidFill>
                  <a:srgbClr val="000000"/>
                </a:solidFill>
                <a:latin typeface="Arimo Bold"/>
                <a:ea typeface="Arimo Bold"/>
                <a:cs typeface="Arimo Bold"/>
                <a:sym typeface="Arimo Bold"/>
              </a:rPr>
              <a:t>Reference on iMAP beamforming: </a:t>
            </a:r>
            <a:r>
              <a:rPr lang="en-US" sz="2499">
                <a:solidFill>
                  <a:srgbClr val="000000"/>
                </a:solidFill>
                <a:latin typeface="Arimo"/>
                <a:ea typeface="Arimo"/>
                <a:cs typeface="Arimo"/>
                <a:sym typeface="Arimo"/>
              </a:rPr>
              <a:t>Chernyakova, T. &amp; Eldar, Y. C. (2019) Ultrasound imaging using iterative maximum a-posteriori beamforming. [online]. Available from: </a:t>
            </a:r>
            <a:r>
              <a:rPr lang="en-US" sz="2499" u="sng">
                <a:solidFill>
                  <a:srgbClr val="000000"/>
                </a:solidFill>
                <a:latin typeface="Arimo"/>
                <a:ea typeface="Arimo"/>
                <a:cs typeface="Arimo"/>
                <a:sym typeface="Arimo"/>
                <a:hlinkClick r:id="rId3" tooltip="https://patents.google.com/patent/WO2019142085A1/en?oq=WO2019142085."/>
              </a:rPr>
              <a:t>https://patents.google.com/patent/WO2019142085A1/en?oq=WO2019142085.</a:t>
            </a:r>
          </a:p>
          <a:p>
            <a:pPr algn="l">
              <a:lnSpc>
                <a:spcPts val="3124"/>
              </a:lnSpc>
            </a:pPr>
          </a:p>
          <a:p>
            <a:pPr algn="l" marL="539749" indent="-269875" lvl="1">
              <a:lnSpc>
                <a:spcPts val="3124"/>
              </a:lnSpc>
              <a:buFont typeface="Arial"/>
              <a:buChar char="•"/>
            </a:pPr>
            <a:r>
              <a:rPr lang="en-US" b="true" sz="2499">
                <a:solidFill>
                  <a:srgbClr val="000000"/>
                </a:solidFill>
                <a:latin typeface="Arimo Bold"/>
                <a:ea typeface="Arimo Bold"/>
                <a:cs typeface="Arimo Bold"/>
                <a:sym typeface="Arimo Bold"/>
              </a:rPr>
              <a:t>Reference for codes: </a:t>
            </a:r>
            <a:r>
              <a:rPr lang="en-US" sz="2499" u="sng">
                <a:solidFill>
                  <a:srgbClr val="000000"/>
                </a:solidFill>
                <a:latin typeface="Arimo"/>
                <a:ea typeface="Arimo"/>
                <a:cs typeface="Arimo"/>
                <a:sym typeface="Arimo"/>
                <a:hlinkClick r:id="rId4" tooltip="https://github.com/CorazzaAlexandre/PALA_Beamforming"/>
              </a:rPr>
              <a:t>https://github.com/CorazzaAlexandre/PALA_Beamforming</a:t>
            </a:r>
          </a:p>
        </p:txBody>
      </p:sp>
      <p:sp>
        <p:nvSpPr>
          <p:cNvPr name="TextBox 5" id="5"/>
          <p:cNvSpPr txBox="true"/>
          <p:nvPr/>
        </p:nvSpPr>
        <p:spPr>
          <a:xfrm rot="0">
            <a:off x="899217" y="745036"/>
            <a:ext cx="4339828" cy="817562"/>
          </a:xfrm>
          <a:prstGeom prst="rect">
            <a:avLst/>
          </a:prstGeom>
        </p:spPr>
        <p:txBody>
          <a:bodyPr anchor="t" rtlCol="false" tIns="0" lIns="0" bIns="0" rIns="0">
            <a:spAutoFit/>
          </a:bodyPr>
          <a:lstStyle/>
          <a:p>
            <a:pPr algn="l">
              <a:lnSpc>
                <a:spcPts val="6312"/>
              </a:lnSpc>
            </a:pPr>
            <a:r>
              <a:rPr lang="en-US" sz="4999" b="true">
                <a:solidFill>
                  <a:srgbClr val="231971"/>
                </a:solidFill>
                <a:latin typeface="Arimo Bold"/>
                <a:ea typeface="Arimo Bold"/>
                <a:cs typeface="Arimo Bold"/>
                <a:sym typeface="Arimo Bold"/>
              </a:rPr>
              <a:t>REFERENCES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DAHH652e3d0</dc:identifier>
  <dcterms:modified xsi:type="dcterms:W3CDTF">2011-08-01T06:04:30Z</dcterms:modified>
  <cp:revision>1</cp:revision>
  <dc:title>Advanced-Signal-Processing-in-Ultrasound-Imaging.pptx</dc:title>
</cp:coreProperties>
</file>